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8288000" cy="10287000"/>
  <p:notesSz cx="6858000" cy="9144000"/>
  <p:embeddedFontLst>
    <p:embeddedFont>
      <p:font typeface="League Gothic" panose="020B0604020202020204" charset="0"/>
      <p:regular r:id="rId7"/>
    </p:embeddedFont>
    <p:embeddedFont>
      <p:font typeface="Garet Bold" panose="020B0604020202020204" charset="0"/>
      <p:regular r:id="rId8"/>
    </p:embeddedFont>
    <p:embeddedFont>
      <p:font typeface="Garet" panose="020B0604020202020204" charset="0"/>
      <p:regular r:id="rId9"/>
    </p:embeddedFont>
    <p:embeddedFont>
      <p:font typeface="Above the Beyond Script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RoxboroughCF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762867"/>
            <a:ext cx="9798151" cy="3495433"/>
            <a:chOff x="0" y="0"/>
            <a:chExt cx="1517990" cy="5415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7990" cy="541534"/>
            </a:xfrm>
            <a:custGeom>
              <a:avLst/>
              <a:gdLst/>
              <a:ahLst/>
              <a:cxnLst/>
              <a:rect l="l" t="t" r="r" b="b"/>
              <a:pathLst>
                <a:path w="1517990" h="541534">
                  <a:moveTo>
                    <a:pt x="0" y="0"/>
                  </a:moveTo>
                  <a:lnTo>
                    <a:pt x="1517990" y="0"/>
                  </a:lnTo>
                  <a:lnTo>
                    <a:pt x="1517990" y="541534"/>
                  </a:lnTo>
                  <a:lnTo>
                    <a:pt x="0" y="541534"/>
                  </a:lnTo>
                  <a:close/>
                </a:path>
              </a:pathLst>
            </a:custGeom>
            <a:blipFill>
              <a:blip r:embed="rId2"/>
              <a:stretch>
                <a:fillRect t="-10092" b="-1009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370305" y="7269559"/>
            <a:ext cx="6226646" cy="2506472"/>
            <a:chOff x="0" y="0"/>
            <a:chExt cx="1639940" cy="66014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39940" cy="660141"/>
            </a:xfrm>
            <a:custGeom>
              <a:avLst/>
              <a:gdLst/>
              <a:ahLst/>
              <a:cxnLst/>
              <a:rect l="l" t="t" r="r" b="b"/>
              <a:pathLst>
                <a:path w="1639940" h="660141">
                  <a:moveTo>
                    <a:pt x="0" y="0"/>
                  </a:moveTo>
                  <a:lnTo>
                    <a:pt x="1639940" y="0"/>
                  </a:lnTo>
                  <a:lnTo>
                    <a:pt x="1639940" y="660141"/>
                  </a:lnTo>
                  <a:lnTo>
                    <a:pt x="0" y="660141"/>
                  </a:lnTo>
                  <a:close/>
                </a:path>
              </a:pathLst>
            </a:custGeom>
            <a:solidFill>
              <a:srgbClr val="222322"/>
            </a:solidFill>
            <a:ln w="19050" cap="sq">
              <a:gradFill>
                <a:gsLst>
                  <a:gs pos="0">
                    <a:srgbClr val="EEF0FE">
                      <a:alpha val="100000"/>
                    </a:srgbClr>
                  </a:gs>
                  <a:gs pos="25000">
                    <a:srgbClr val="958B96">
                      <a:alpha val="100000"/>
                    </a:srgbClr>
                  </a:gs>
                  <a:gs pos="50000">
                    <a:srgbClr val="EEF1FF">
                      <a:alpha val="100000"/>
                    </a:srgbClr>
                  </a:gs>
                  <a:gs pos="75000">
                    <a:srgbClr val="968B96">
                      <a:alpha val="100000"/>
                    </a:srgbClr>
                  </a:gs>
                  <a:gs pos="100000">
                    <a:srgbClr val="EEF1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639940" cy="698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152381"/>
            <a:ext cx="9798151" cy="2254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35"/>
              </a:lnSpc>
            </a:pPr>
            <a:r>
              <a:rPr lang="en-US" sz="18449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Analyzing </a:t>
            </a:r>
          </a:p>
        </p:txBody>
      </p:sp>
      <p:sp>
        <p:nvSpPr>
          <p:cNvPr id="8" name="Freeform 8"/>
          <p:cNvSpPr/>
          <p:nvPr/>
        </p:nvSpPr>
        <p:spPr>
          <a:xfrm>
            <a:off x="10632204" y="-13908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87" b="-248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26514" y="3816684"/>
            <a:ext cx="13218969" cy="1606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76"/>
              </a:lnSpc>
            </a:pPr>
            <a:r>
              <a:rPr lang="en-US" sz="13268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Bankruptcy Data 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67190" y="7580860"/>
            <a:ext cx="4248264" cy="1755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3"/>
              </a:lnSpc>
            </a:pPr>
            <a:r>
              <a:rPr lang="en-US" sz="5205" b="1">
                <a:solidFill>
                  <a:srgbClr val="FFFFFF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ML 02</a:t>
            </a:r>
          </a:p>
          <a:p>
            <a:pPr algn="l">
              <a:lnSpc>
                <a:spcPts val="5153"/>
              </a:lnSpc>
            </a:pPr>
            <a:endParaRPr lang="en-US" sz="5205" b="1">
              <a:solidFill>
                <a:srgbClr val="FFFFFF"/>
              </a:solidFill>
              <a:latin typeface="RoxboroughCF Bold"/>
              <a:ea typeface="RoxboroughCF Bold"/>
              <a:cs typeface="RoxboroughCF Bold"/>
              <a:sym typeface="RoxboroughCF Bold"/>
            </a:endParaRPr>
          </a:p>
          <a:p>
            <a:pPr algn="l">
              <a:lnSpc>
                <a:spcPts val="3569"/>
              </a:lnSpc>
            </a:pPr>
            <a:r>
              <a:rPr lang="en-US" sz="3605">
                <a:solidFill>
                  <a:srgbClr val="FFDE59"/>
                </a:solidFill>
                <a:latin typeface="Above the Beyond Script"/>
                <a:ea typeface="Above the Beyond Script"/>
                <a:cs typeface="Above the Beyond Script"/>
                <a:sym typeface="Above the Beyond Script"/>
              </a:rPr>
              <a:t>Cohort 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05394" y="3892089"/>
            <a:ext cx="3523603" cy="2687868"/>
            <a:chOff x="0" y="0"/>
            <a:chExt cx="928027" cy="7079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09947" y="4025210"/>
            <a:ext cx="3523603" cy="2687868"/>
            <a:chOff x="0" y="0"/>
            <a:chExt cx="928027" cy="7079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19472" y="3892089"/>
            <a:ext cx="3523603" cy="2687868"/>
            <a:chOff x="0" y="0"/>
            <a:chExt cx="928027" cy="7079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819472" y="6570432"/>
            <a:ext cx="3523603" cy="2687868"/>
            <a:chOff x="0" y="0"/>
            <a:chExt cx="928027" cy="70791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333550" y="3892089"/>
            <a:ext cx="3523603" cy="2687868"/>
            <a:chOff x="0" y="0"/>
            <a:chExt cx="928027" cy="7079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33550" y="6570432"/>
            <a:ext cx="3523603" cy="2687868"/>
            <a:chOff x="0" y="0"/>
            <a:chExt cx="928027" cy="7079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847627" y="3892089"/>
            <a:ext cx="3523603" cy="2687868"/>
            <a:chOff x="0" y="0"/>
            <a:chExt cx="928027" cy="7079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28027" cy="707916"/>
            </a:xfrm>
            <a:custGeom>
              <a:avLst/>
              <a:gdLst/>
              <a:ahLst/>
              <a:cxnLst/>
              <a:rect l="l" t="t" r="r" b="b"/>
              <a:pathLst>
                <a:path w="928027" h="707916">
                  <a:moveTo>
                    <a:pt x="0" y="0"/>
                  </a:moveTo>
                  <a:lnTo>
                    <a:pt x="928027" y="0"/>
                  </a:lnTo>
                  <a:lnTo>
                    <a:pt x="928027" y="707916"/>
                  </a:lnTo>
                  <a:lnTo>
                    <a:pt x="0" y="7079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22322">
                  <a:alpha val="19608"/>
                </a:srgbClr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28027" cy="746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7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4163610" y="4130713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876746" y="4032557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677688" y="4130713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7677688" y="6818082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2" y="0"/>
                </a:lnTo>
                <a:lnTo>
                  <a:pt x="408212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191766" y="4130713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191766" y="6818082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705844" y="4130713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305394" y="1502910"/>
            <a:ext cx="12465995" cy="1917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75"/>
              </a:lnSpc>
            </a:pPr>
            <a:r>
              <a:rPr lang="en-US" sz="15767" spc="-756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List of Contents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912829" y="6703553"/>
            <a:ext cx="5375171" cy="3583447"/>
          </a:xfrm>
          <a:custGeom>
            <a:avLst/>
            <a:gdLst/>
            <a:ahLst/>
            <a:cxnLst/>
            <a:rect l="l" t="t" r="r" b="b"/>
            <a:pathLst>
              <a:path w="5375171" h="3583447">
                <a:moveTo>
                  <a:pt x="0" y="0"/>
                </a:moveTo>
                <a:lnTo>
                  <a:pt x="5375171" y="0"/>
                </a:lnTo>
                <a:lnTo>
                  <a:pt x="5375171" y="3583447"/>
                </a:lnTo>
                <a:lnTo>
                  <a:pt x="0" y="35834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566774" y="3882335"/>
            <a:ext cx="1688452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66774" y="6560678"/>
            <a:ext cx="171101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80852" y="3882335"/>
            <a:ext cx="122571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080852" y="6560678"/>
            <a:ext cx="1706250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66774" y="5014540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Who We Are?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66774" y="7692883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Results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080852" y="5014540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Business Case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80852" y="7692883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Summary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66774" y="5601464"/>
            <a:ext cx="2874237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Our Group.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66774" y="8279807"/>
            <a:ext cx="2874237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Model Performance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80852" y="8279807"/>
            <a:ext cx="2874237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Summarize the  findings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594929" y="3882335"/>
            <a:ext cx="1670654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594929" y="6560678"/>
            <a:ext cx="195866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94929" y="5014540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Methodology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94929" y="7692883"/>
            <a:ext cx="2510703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Future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94929" y="5601464"/>
            <a:ext cx="2874237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What methods used to analyze dataset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94929" y="8279807"/>
            <a:ext cx="2874237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Reproducibility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09007" y="3882335"/>
            <a:ext cx="1958661" cy="1170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 b="1" spc="-163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109007" y="5014540"/>
            <a:ext cx="2510703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spc="-64">
                <a:solidFill>
                  <a:srgbClr val="FDFDFD"/>
                </a:solidFill>
                <a:latin typeface="Garet Bold"/>
                <a:ea typeface="Garet Bold"/>
                <a:cs typeface="Garet Bold"/>
                <a:sym typeface="Garet Bold"/>
              </a:rPr>
              <a:t>Model development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109007" y="5744297"/>
            <a:ext cx="2510703" cy="254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.ML model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144155" y="5534747"/>
            <a:ext cx="2874237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-51">
                <a:solidFill>
                  <a:srgbClr val="FDFDFD"/>
                </a:solidFill>
                <a:latin typeface="Garet"/>
                <a:ea typeface="Garet"/>
                <a:cs typeface="Garet"/>
                <a:sym typeface="Garet"/>
              </a:rPr>
              <a:t>Highlighting dataset,  Why to analyze the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20" y="4735288"/>
            <a:ext cx="408212" cy="408212"/>
          </a:xfrm>
          <a:custGeom>
            <a:avLst/>
            <a:gdLst/>
            <a:ahLst/>
            <a:cxnLst/>
            <a:rect l="l" t="t" r="r" b="b"/>
            <a:pathLst>
              <a:path w="408212" h="408212">
                <a:moveTo>
                  <a:pt x="0" y="0"/>
                </a:moveTo>
                <a:lnTo>
                  <a:pt x="408211" y="0"/>
                </a:lnTo>
                <a:lnTo>
                  <a:pt x="408211" y="408212"/>
                </a:lnTo>
                <a:lnTo>
                  <a:pt x="0" y="4082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1657" y="1638300"/>
            <a:ext cx="10367119" cy="2484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20"/>
              </a:lnSpc>
            </a:pPr>
            <a:r>
              <a:rPr lang="en-US" sz="20363" spc="-977">
                <a:solidFill>
                  <a:srgbClr val="FDFDFD"/>
                </a:solidFill>
                <a:latin typeface="League Gothic"/>
                <a:ea typeface="League Gothic"/>
                <a:cs typeface="League Gothic"/>
                <a:sym typeface="League Gothic"/>
              </a:rPr>
              <a:t>Our Team</a:t>
            </a:r>
          </a:p>
        </p:txBody>
      </p:sp>
      <p:sp>
        <p:nvSpPr>
          <p:cNvPr id="4" name="Freeform 4"/>
          <p:cNvSpPr/>
          <p:nvPr/>
        </p:nvSpPr>
        <p:spPr>
          <a:xfrm>
            <a:off x="10688576" y="0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487" b="-2487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88576" y="17164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87" b="-248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4291205"/>
            <a:ext cx="5995795" cy="5995795"/>
          </a:xfrm>
          <a:custGeom>
            <a:avLst/>
            <a:gdLst/>
            <a:ahLst/>
            <a:cxnLst/>
            <a:rect l="l" t="t" r="r" b="b"/>
            <a:pathLst>
              <a:path w="5995795" h="5995795">
                <a:moveTo>
                  <a:pt x="0" y="0"/>
                </a:moveTo>
                <a:lnTo>
                  <a:pt x="5995795" y="0"/>
                </a:lnTo>
                <a:lnTo>
                  <a:pt x="5995795" y="5995795"/>
                </a:lnTo>
                <a:lnTo>
                  <a:pt x="0" y="59957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390650"/>
            <a:ext cx="5706726" cy="143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85"/>
              </a:lnSpc>
            </a:pPr>
            <a:r>
              <a:rPr lang="en-US" sz="11801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Future.....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3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88576" y="17164"/>
            <a:ext cx="7599424" cy="1165534"/>
          </a:xfrm>
          <a:custGeom>
            <a:avLst/>
            <a:gdLst/>
            <a:ahLst/>
            <a:cxnLst/>
            <a:rect l="l" t="t" r="r" b="b"/>
            <a:pathLst>
              <a:path w="7599424" h="1165534">
                <a:moveTo>
                  <a:pt x="0" y="0"/>
                </a:moveTo>
                <a:lnTo>
                  <a:pt x="7599424" y="0"/>
                </a:lnTo>
                <a:lnTo>
                  <a:pt x="7599424" y="1165534"/>
                </a:lnTo>
                <a:lnTo>
                  <a:pt x="0" y="116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87" b="-248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7164"/>
            <a:ext cx="8090778" cy="10269836"/>
          </a:xfrm>
          <a:custGeom>
            <a:avLst/>
            <a:gdLst/>
            <a:ahLst/>
            <a:cxnLst/>
            <a:rect l="l" t="t" r="r" b="b"/>
            <a:pathLst>
              <a:path w="8090778" h="10269836">
                <a:moveTo>
                  <a:pt x="0" y="0"/>
                </a:moveTo>
                <a:lnTo>
                  <a:pt x="8090778" y="0"/>
                </a:lnTo>
                <a:lnTo>
                  <a:pt x="8090778" y="10269836"/>
                </a:lnTo>
                <a:lnTo>
                  <a:pt x="0" y="10269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224" r="-4929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783839" y="4661382"/>
            <a:ext cx="11973772" cy="3016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90"/>
              </a:lnSpc>
            </a:pPr>
            <a:r>
              <a:rPr lang="en-US" sz="24761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Custom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League Gothic</vt:lpstr>
      <vt:lpstr>Arial</vt:lpstr>
      <vt:lpstr>Garet Bold</vt:lpstr>
      <vt:lpstr>Garet</vt:lpstr>
      <vt:lpstr>Above the Beyond Script</vt:lpstr>
      <vt:lpstr>Calibri</vt:lpstr>
      <vt:lpstr>RoxboroughCF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 by ML-02</dc:title>
  <cp:lastModifiedBy>Omega7</cp:lastModifiedBy>
  <cp:revision>2</cp:revision>
  <dcterms:created xsi:type="dcterms:W3CDTF">2006-08-16T00:00:00Z</dcterms:created>
  <dcterms:modified xsi:type="dcterms:W3CDTF">2025-11-14T01:25:57Z</dcterms:modified>
  <dc:identifier>DAG4iaCQ6Ss</dc:identifier>
</cp:coreProperties>
</file>