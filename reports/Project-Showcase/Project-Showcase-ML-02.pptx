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embeddedFontLst>
    <p:embeddedFont>
      <p:font typeface="Libre Baskerville"/>
      <p:regular r:id="rId18"/>
      <p:bold r:id="rId19"/>
      <p:italic r:id="rId20"/>
    </p:embeddedFont>
    <p:embeddedFont>
      <p:font typeface="League Gothic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h/qinQCHNRJ3Wxs+Y+nFVN27vG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4FDE74-0302-4869-A6EF-0297B9F100B8}">
  <a:tblStyle styleId="{A14FDE74-0302-4869-A6EF-0297B9F100B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Baskerville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LeagueGothic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LibreBaskerville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ibreBaskervill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8197750" y="6468392"/>
            <a:ext cx="9798625" cy="3495602"/>
          </a:xfrm>
          <a:custGeom>
            <a:rect b="b" l="l" r="r" t="t"/>
            <a:pathLst>
              <a:path extrusionOk="0" h="541534" w="1517990">
                <a:moveTo>
                  <a:pt x="0" y="0"/>
                </a:moveTo>
                <a:lnTo>
                  <a:pt x="1517990" y="0"/>
                </a:lnTo>
                <a:lnTo>
                  <a:pt x="1517990" y="541534"/>
                </a:lnTo>
                <a:lnTo>
                  <a:pt x="0" y="54153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091" l="0" r="0" t="-10091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0632204" y="-13908"/>
            <a:ext cx="7599424" cy="1165534"/>
          </a:xfrm>
          <a:custGeom>
            <a:rect b="b" l="l" r="r" t="t"/>
            <a:pathLst>
              <a:path extrusionOk="0" h="1165534" w="759942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485" l="0" r="0" t="-2486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626528" y="1950450"/>
            <a:ext cx="16970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Company </a:t>
            </a:r>
            <a:r>
              <a:rPr b="0" i="0" lang="en-US" sz="72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Bankruptcy </a:t>
            </a:r>
            <a:r>
              <a:rPr lang="en-US" sz="72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Prediction</a:t>
            </a:r>
            <a:endParaRPr sz="7200"/>
          </a:p>
        </p:txBody>
      </p:sp>
      <p:sp>
        <p:nvSpPr>
          <p:cNvPr id="91" name="Google Shape;91;p1"/>
          <p:cNvSpPr txBox="1"/>
          <p:nvPr/>
        </p:nvSpPr>
        <p:spPr>
          <a:xfrm>
            <a:off x="740309" y="3696731"/>
            <a:ext cx="42483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 02</a:t>
            </a:r>
            <a:endParaRPr b="1" i="0" sz="520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5" u="none" cap="none" strike="noStrike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Cohort -07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305394" y="3747428"/>
            <a:ext cx="3523603" cy="2832529"/>
            <a:chOff x="0" y="-38100"/>
            <a:chExt cx="928027" cy="746016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928027" cy="707916"/>
            </a:xfrm>
            <a:custGeom>
              <a:rect b="b" l="l" r="r" t="t"/>
              <a:pathLst>
                <a:path extrusionOk="0" h="707916" w="928027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222322">
                  <a:alpha val="19607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8" name="Google Shape;98;p2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0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4809947" y="3880549"/>
            <a:ext cx="3523603" cy="2832529"/>
            <a:chOff x="0" y="-38100"/>
            <a:chExt cx="928027" cy="746016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928027" cy="707916"/>
            </a:xfrm>
            <a:custGeom>
              <a:rect b="b" l="l" r="r" t="t"/>
              <a:pathLst>
                <a:path extrusionOk="0" h="707916" w="928027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222322">
                  <a:alpha val="19607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0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4819472" y="3747428"/>
            <a:ext cx="3523603" cy="2832529"/>
            <a:chOff x="0" y="-38100"/>
            <a:chExt cx="928027" cy="746016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928027" cy="707916"/>
            </a:xfrm>
            <a:custGeom>
              <a:rect b="b" l="l" r="r" t="t"/>
              <a:pathLst>
                <a:path extrusionOk="0" h="707916" w="928027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22232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0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4819472" y="6425771"/>
            <a:ext cx="3523603" cy="2832529"/>
            <a:chOff x="0" y="-38100"/>
            <a:chExt cx="928027" cy="746016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928027" cy="707916"/>
            </a:xfrm>
            <a:custGeom>
              <a:rect b="b" l="l" r="r" t="t"/>
              <a:pathLst>
                <a:path extrusionOk="0" h="707916" w="928027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222322">
                  <a:alpha val="19607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0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8333550" y="3747428"/>
            <a:ext cx="3523603" cy="2832529"/>
            <a:chOff x="0" y="-38100"/>
            <a:chExt cx="928027" cy="746016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928027" cy="707916"/>
            </a:xfrm>
            <a:custGeom>
              <a:rect b="b" l="l" r="r" t="t"/>
              <a:pathLst>
                <a:path extrusionOk="0" h="707916" w="928027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222322">
                  <a:alpha val="19607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0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8333550" y="6425771"/>
            <a:ext cx="3523603" cy="2832529"/>
            <a:chOff x="0" y="-38100"/>
            <a:chExt cx="928027" cy="746016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928027" cy="707916"/>
            </a:xfrm>
            <a:custGeom>
              <a:rect b="b" l="l" r="r" t="t"/>
              <a:pathLst>
                <a:path extrusionOk="0" h="707916" w="928027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222322">
                  <a:alpha val="19607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0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1847627" y="3747428"/>
            <a:ext cx="3523603" cy="2832529"/>
            <a:chOff x="0" y="-38100"/>
            <a:chExt cx="928027" cy="746016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928027" cy="707916"/>
            </a:xfrm>
            <a:custGeom>
              <a:rect b="b" l="l" r="r" t="t"/>
              <a:pathLst>
                <a:path extrusionOk="0" h="707916" w="928027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222322">
                  <a:alpha val="19607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0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4163610" y="4130713"/>
            <a:ext cx="408212" cy="408212"/>
          </a:xfrm>
          <a:custGeom>
            <a:rect b="b" l="l" r="r" t="t"/>
            <a:pathLst>
              <a:path extrusionOk="0" h="408212" w="408212">
                <a:moveTo>
                  <a:pt x="0" y="0"/>
                </a:moveTo>
                <a:lnTo>
                  <a:pt x="408212" y="0"/>
                </a:lnTo>
                <a:lnTo>
                  <a:pt x="408212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2"/>
          <p:cNvSpPr/>
          <p:nvPr/>
        </p:nvSpPr>
        <p:spPr>
          <a:xfrm>
            <a:off x="4876746" y="4032557"/>
            <a:ext cx="408212" cy="408212"/>
          </a:xfrm>
          <a:custGeom>
            <a:rect b="b" l="l" r="r" t="t"/>
            <a:pathLst>
              <a:path extrusionOk="0" h="408212" w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2"/>
          <p:cNvSpPr/>
          <p:nvPr/>
        </p:nvSpPr>
        <p:spPr>
          <a:xfrm>
            <a:off x="7677688" y="4130713"/>
            <a:ext cx="408212" cy="408212"/>
          </a:xfrm>
          <a:custGeom>
            <a:rect b="b" l="l" r="r" t="t"/>
            <a:pathLst>
              <a:path extrusionOk="0" h="408212" w="408212">
                <a:moveTo>
                  <a:pt x="0" y="0"/>
                </a:moveTo>
                <a:lnTo>
                  <a:pt x="408212" y="0"/>
                </a:lnTo>
                <a:lnTo>
                  <a:pt x="408212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2"/>
          <p:cNvSpPr/>
          <p:nvPr/>
        </p:nvSpPr>
        <p:spPr>
          <a:xfrm>
            <a:off x="7677688" y="6818082"/>
            <a:ext cx="408212" cy="408212"/>
          </a:xfrm>
          <a:custGeom>
            <a:rect b="b" l="l" r="r" t="t"/>
            <a:pathLst>
              <a:path extrusionOk="0" h="408212" w="408212">
                <a:moveTo>
                  <a:pt x="0" y="0"/>
                </a:moveTo>
                <a:lnTo>
                  <a:pt x="408212" y="0"/>
                </a:lnTo>
                <a:lnTo>
                  <a:pt x="408212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2"/>
          <p:cNvSpPr/>
          <p:nvPr/>
        </p:nvSpPr>
        <p:spPr>
          <a:xfrm>
            <a:off x="11191766" y="4130713"/>
            <a:ext cx="408212" cy="408212"/>
          </a:xfrm>
          <a:custGeom>
            <a:rect b="b" l="l" r="r" t="t"/>
            <a:pathLst>
              <a:path extrusionOk="0" h="408212" w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2"/>
          <p:cNvSpPr/>
          <p:nvPr/>
        </p:nvSpPr>
        <p:spPr>
          <a:xfrm>
            <a:off x="11191766" y="6818082"/>
            <a:ext cx="408212" cy="408212"/>
          </a:xfrm>
          <a:custGeom>
            <a:rect b="b" l="l" r="r" t="t"/>
            <a:pathLst>
              <a:path extrusionOk="0" h="408212" w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14705844" y="4130713"/>
            <a:ext cx="408212" cy="408212"/>
          </a:xfrm>
          <a:custGeom>
            <a:rect b="b" l="l" r="r" t="t"/>
            <a:pathLst>
              <a:path extrusionOk="0" h="408212" w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2"/>
          <p:cNvSpPr txBox="1"/>
          <p:nvPr/>
        </p:nvSpPr>
        <p:spPr>
          <a:xfrm>
            <a:off x="1305394" y="1502910"/>
            <a:ext cx="12465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6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List of Contents</a:t>
            </a:r>
            <a:endParaRPr sz="7200"/>
          </a:p>
        </p:txBody>
      </p:sp>
      <p:sp>
        <p:nvSpPr>
          <p:cNvPr id="125" name="Google Shape;125;p2"/>
          <p:cNvSpPr/>
          <p:nvPr/>
        </p:nvSpPr>
        <p:spPr>
          <a:xfrm>
            <a:off x="10688576" y="0"/>
            <a:ext cx="7599424" cy="1165534"/>
          </a:xfrm>
          <a:custGeom>
            <a:rect b="b" l="l" r="r" t="t"/>
            <a:pathLst>
              <a:path extrusionOk="0" h="1165534" w="759942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485" l="0" r="0" t="-2486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12485829" y="6323878"/>
            <a:ext cx="5375171" cy="3583447"/>
          </a:xfrm>
          <a:custGeom>
            <a:rect b="b" l="l" r="r" t="t"/>
            <a:pathLst>
              <a:path extrusionOk="0" h="3583447" w="5375171">
                <a:moveTo>
                  <a:pt x="0" y="0"/>
                </a:moveTo>
                <a:lnTo>
                  <a:pt x="5375171" y="0"/>
                </a:lnTo>
                <a:lnTo>
                  <a:pt x="5375171" y="3583447"/>
                </a:lnTo>
                <a:lnTo>
                  <a:pt x="0" y="3583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566774" y="3882335"/>
            <a:ext cx="1688452" cy="1170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0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1566774" y="6560678"/>
            <a:ext cx="1711011" cy="1170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0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5080852" y="3882335"/>
            <a:ext cx="1225711" cy="1170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0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5080852" y="6560678"/>
            <a:ext cx="1706250" cy="1170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0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566774" y="5014540"/>
            <a:ext cx="2510703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Who We Are?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1566774" y="7692883"/>
            <a:ext cx="251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DFDFD"/>
                </a:solidFill>
              </a:rPr>
              <a:t>Model Training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5080852" y="5014540"/>
            <a:ext cx="2510703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Business Case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5080852" y="7692883"/>
            <a:ext cx="251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DFDFD"/>
                </a:solidFill>
              </a:rPr>
              <a:t>Model Performance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8594929" y="3882335"/>
            <a:ext cx="1670654" cy="1170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0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8594929" y="6560678"/>
            <a:ext cx="1958661" cy="1170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0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8594929" y="5014540"/>
            <a:ext cx="2510703" cy="35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endParaRPr b="1" i="0" sz="2000" u="none" cap="none" strike="noStrike">
              <a:solidFill>
                <a:srgbClr val="FDFDF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8594929" y="7692883"/>
            <a:ext cx="251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Future </a:t>
            </a:r>
            <a:r>
              <a:rPr b="1" lang="en-US" sz="2000">
                <a:solidFill>
                  <a:srgbClr val="FDFDFD"/>
                </a:solidFill>
              </a:rPr>
              <a:t>Improvements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2109007" y="3882335"/>
            <a:ext cx="1958661" cy="1170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0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2109007" y="5014540"/>
            <a:ext cx="251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DFDFD"/>
                </a:solidFill>
              </a:rPr>
              <a:t>EDA and Learning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681657" y="1739338"/>
            <a:ext cx="10367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FDFDF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Team</a:t>
            </a:r>
            <a:endParaRPr sz="7200"/>
          </a:p>
        </p:txBody>
      </p:sp>
      <p:sp>
        <p:nvSpPr>
          <p:cNvPr id="146" name="Google Shape;146;p3"/>
          <p:cNvSpPr/>
          <p:nvPr/>
        </p:nvSpPr>
        <p:spPr>
          <a:xfrm>
            <a:off x="10688576" y="0"/>
            <a:ext cx="7599424" cy="1165534"/>
          </a:xfrm>
          <a:custGeom>
            <a:rect b="b" l="l" r="r" t="t"/>
            <a:pathLst>
              <a:path extrusionOk="0" h="1165534" w="759942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485" l="0" r="0" t="-2486"/>
            </a:stretch>
          </a:blipFill>
          <a:ln>
            <a:noFill/>
          </a:ln>
        </p:spPr>
      </p:sp>
      <p:pic>
        <p:nvPicPr>
          <p:cNvPr id="147" name="Google Shape;14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5388" y="3421349"/>
            <a:ext cx="7318175" cy="48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 txBox="1"/>
          <p:nvPr>
            <p:ph idx="1" type="subTitle"/>
          </p:nvPr>
        </p:nvSpPr>
        <p:spPr>
          <a:xfrm>
            <a:off x="681650" y="4102250"/>
            <a:ext cx="6400800" cy="3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ibre Baskerville"/>
              <a:buChar char="•"/>
            </a:pPr>
            <a:r>
              <a:rPr lang="en-US" sz="44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Bakary Sanogo</a:t>
            </a:r>
            <a:endParaRPr sz="44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571500" lvl="0" marL="571500" rtl="0" algn="l">
              <a:spcBef>
                <a:spcPts val="88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ibre Baskerville"/>
              <a:buChar char="•"/>
            </a:pPr>
            <a:r>
              <a:rPr lang="en-US" sz="44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Doren Chan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571500" lvl="0" marL="571500" rtl="0" algn="l">
              <a:spcBef>
                <a:spcPts val="88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ibre Baskerville"/>
              <a:buChar char="•"/>
            </a:pPr>
            <a:r>
              <a:rPr lang="en-US" sz="44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Oshinee Mendis</a:t>
            </a:r>
            <a:endParaRPr sz="44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571500" lvl="0" marL="571500" rtl="0" algn="l">
              <a:spcBef>
                <a:spcPts val="88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ibre Baskerville"/>
              <a:buChar char="•"/>
            </a:pPr>
            <a:r>
              <a:rPr lang="en-US" sz="44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Shripad Tak</a:t>
            </a:r>
            <a:endParaRPr sz="44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/>
          <p:nvPr/>
        </p:nvSpPr>
        <p:spPr>
          <a:xfrm>
            <a:off x="474050" y="1807992"/>
            <a:ext cx="10367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FDFDF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About Dataset:</a:t>
            </a:r>
            <a:endParaRPr b="0" i="0" sz="7200" u="none" cap="none" strike="noStrike">
              <a:solidFill>
                <a:srgbClr val="FDFDF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0688576" y="0"/>
            <a:ext cx="7599424" cy="1165534"/>
          </a:xfrm>
          <a:custGeom>
            <a:rect b="b" l="l" r="r" t="t"/>
            <a:pathLst>
              <a:path extrusionOk="0" h="1165534" w="759942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485" l="0" r="0" t="-2486"/>
            </a:stretch>
          </a:blipFill>
          <a:ln>
            <a:noFill/>
          </a:ln>
        </p:spPr>
      </p:sp>
      <p:sp>
        <p:nvSpPr>
          <p:cNvPr id="155" name="Google Shape;155;p4"/>
          <p:cNvSpPr txBox="1"/>
          <p:nvPr>
            <p:ph idx="1" type="body"/>
          </p:nvPr>
        </p:nvSpPr>
        <p:spPr>
          <a:xfrm>
            <a:off x="491400" y="3468448"/>
            <a:ext cx="17305200" cy="56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ibre Baskerville"/>
              <a:buChar char="•"/>
            </a:pPr>
            <a:r>
              <a:rPr lang="en-US" sz="44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Company Bankruptcy Dataset</a:t>
            </a:r>
            <a:endParaRPr sz="44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•"/>
            </a:pPr>
            <a:r>
              <a:rPr i="1" lang="en-US"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Source</a:t>
            </a:r>
            <a:r>
              <a:rPr i="1" lang="en-US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</a:t>
            </a:r>
            <a:r>
              <a:rPr i="1" lang="en-US" sz="2400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Taiwan Economic Journal for the years 1999–2009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t/>
            </a:r>
            <a:endParaRPr i="1" sz="2400">
              <a:solidFill>
                <a:srgbClr val="FFFF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b="1"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Instances</a:t>
            </a: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6,819 companies</a:t>
            </a:r>
            <a:endParaRPr sz="30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b="1"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Features</a:t>
            </a: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96 financial ratios (e.g., debt ratio, net profit margin, ROA)</a:t>
            </a:r>
            <a:endParaRPr sz="30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b="1"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Target</a:t>
            </a: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Binary label — 1 for bankrupt, 0 for non-bankrupt</a:t>
            </a:r>
            <a:endParaRPr sz="30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b="1"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Class Distribution</a:t>
            </a: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Bankruptcy cases represent approximately 3.23% of the dataset</a:t>
            </a:r>
            <a:endParaRPr sz="30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/>
          <p:nvPr/>
        </p:nvSpPr>
        <p:spPr>
          <a:xfrm>
            <a:off x="610611" y="1625922"/>
            <a:ext cx="10367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8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FDFDF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Business Case</a:t>
            </a:r>
            <a:endParaRPr b="0" i="0" sz="7200" u="none" cap="none" strike="noStrike">
              <a:solidFill>
                <a:srgbClr val="FDFDF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0688576" y="0"/>
            <a:ext cx="7599424" cy="1165534"/>
          </a:xfrm>
          <a:custGeom>
            <a:rect b="b" l="l" r="r" t="t"/>
            <a:pathLst>
              <a:path extrusionOk="0" h="1165534" w="759942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485" l="0" r="0" t="-2486"/>
            </a:stretch>
          </a:blipFill>
          <a:ln>
            <a:noFill/>
          </a:ln>
        </p:spPr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610625" y="8216100"/>
            <a:ext cx="82296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Limitations</a:t>
            </a:r>
            <a:br>
              <a:rPr i="1" lang="en-US" sz="3000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Time Span (1999 - 2009)</a:t>
            </a:r>
            <a:b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Only </a:t>
            </a: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Taiwanese</a:t>
            </a: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companies</a:t>
            </a: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3" name="Google Shape;163;p5"/>
          <p:cNvSpPr txBox="1"/>
          <p:nvPr>
            <p:ph idx="4294967295" type="subTitle"/>
          </p:nvPr>
        </p:nvSpPr>
        <p:spPr>
          <a:xfrm>
            <a:off x="610625" y="2975100"/>
            <a:ext cx="13276800" cy="49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600"/>
              <a:buFont typeface="Arial"/>
              <a:buNone/>
            </a:pPr>
            <a:r>
              <a:rPr b="1" i="1" lang="en-US" sz="3000" u="none" cap="none" strike="noStrike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?</a:t>
            </a:r>
            <a:endParaRPr i="0" sz="30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44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•"/>
            </a:pPr>
            <a:r>
              <a:rPr i="0" lang="en-US" sz="30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Learning about the factors impact a bankruptcy, </a:t>
            </a:r>
            <a:endParaRPr i="0" sz="30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44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•"/>
            </a:pPr>
            <a:r>
              <a:rPr i="0" lang="en-US" sz="30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Business Owners- Mitigate actions in their own business</a:t>
            </a:r>
            <a:endParaRPr i="0" sz="30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44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•"/>
            </a:pPr>
            <a:r>
              <a:rPr i="0" lang="en-US" sz="30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Lenders- Accurate decision Making, Reduce Risk</a:t>
            </a:r>
            <a:endParaRPr i="0" sz="30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44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•"/>
            </a:pPr>
            <a:r>
              <a:rPr i="0" lang="en-US" sz="30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Employees- Job Security</a:t>
            </a:r>
            <a:endParaRPr i="0" sz="30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44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•"/>
            </a:pPr>
            <a:r>
              <a:rPr i="0" lang="en-US" sz="30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Company Management- Mitigating Action Plan</a:t>
            </a:r>
            <a:endParaRPr i="0" sz="30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44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•"/>
            </a:pPr>
            <a:r>
              <a:rPr i="0" lang="en-US" sz="30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Policy Makers- Create safe guard Policies</a:t>
            </a:r>
            <a:endParaRPr i="0" sz="30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44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•"/>
            </a:pPr>
            <a:r>
              <a:rPr i="0" lang="en-US" sz="30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Academia &amp; Research Institutes- Deep observe</a:t>
            </a:r>
            <a:endParaRPr i="0" sz="30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44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•"/>
            </a:pPr>
            <a:r>
              <a:rPr i="0" lang="en-US" sz="30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Regulatory Authority- Legal actions</a:t>
            </a:r>
            <a:endParaRPr i="0" sz="30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10688576" y="0"/>
            <a:ext cx="7599424" cy="1165534"/>
          </a:xfrm>
          <a:custGeom>
            <a:rect b="b" l="l" r="r" t="t"/>
            <a:pathLst>
              <a:path extrusionOk="0" h="1165534" w="759942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485" l="0" r="0" t="-2486"/>
            </a:stretch>
          </a:blipFill>
          <a:ln>
            <a:noFill/>
          </a:ln>
        </p:spPr>
      </p:sp>
      <p:sp>
        <p:nvSpPr>
          <p:cNvPr id="169" name="Google Shape;169;p6"/>
          <p:cNvSpPr txBox="1"/>
          <p:nvPr/>
        </p:nvSpPr>
        <p:spPr>
          <a:xfrm>
            <a:off x="381000" y="3266300"/>
            <a:ext cx="165354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: very messy data set with a lot of special characters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Missing data: </a:t>
            </a: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Outliers</a:t>
            </a:r>
            <a:r>
              <a:rPr b="0" i="0" lang="en-US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IQR-rule : ( Q1-1,5*IQR ,  Q3 +1,5*IQR )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Imbalance data </a:t>
            </a: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=&gt;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Principal Component Analysis PCA (poor result)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- Handling imbalance class issue with SMOTE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Variance method for feature selection ( poor result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- </a:t>
            </a:r>
            <a:r>
              <a:rPr i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ANOVA feature selection - picking top 10 features (good result)   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>
            <p:ph type="ctrTitle"/>
          </p:nvPr>
        </p:nvSpPr>
        <p:spPr>
          <a:xfrm>
            <a:off x="381000" y="1417285"/>
            <a:ext cx="12344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ibre Baskerville"/>
              <a:buNone/>
            </a:pPr>
            <a:r>
              <a:rPr lang="en-US" sz="7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EDA and Learning</a:t>
            </a:r>
            <a:endParaRPr sz="72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1111920" y="4735288"/>
            <a:ext cx="408212" cy="408212"/>
          </a:xfrm>
          <a:custGeom>
            <a:rect b="b" l="l" r="r" t="t"/>
            <a:pathLst>
              <a:path extrusionOk="0" h="408212" w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7"/>
          <p:cNvSpPr/>
          <p:nvPr/>
        </p:nvSpPr>
        <p:spPr>
          <a:xfrm>
            <a:off x="10688576" y="0"/>
            <a:ext cx="7599424" cy="1165534"/>
          </a:xfrm>
          <a:custGeom>
            <a:rect b="b" l="l" r="r" t="t"/>
            <a:pathLst>
              <a:path extrusionOk="0" h="1165534" w="759942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485" l="0" r="0" t="-2486"/>
            </a:stretch>
          </a:blipFill>
          <a:ln>
            <a:noFill/>
          </a:ln>
        </p:spPr>
      </p:sp>
      <p:graphicFrame>
        <p:nvGraphicFramePr>
          <p:cNvPr id="177" name="Google Shape;177;p7"/>
          <p:cNvGraphicFramePr/>
          <p:nvPr/>
        </p:nvGraphicFramePr>
        <p:xfrm>
          <a:off x="838200" y="30099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{A14FDE74-0302-4869-A6EF-0297B9F100B8}</a:tableStyleId>
              </a:tblPr>
              <a:tblGrid>
                <a:gridCol w="4800600"/>
                <a:gridCol w="4354225"/>
                <a:gridCol w="6278375"/>
              </a:tblGrid>
              <a:tr h="705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Calibri"/>
                        <a:buNone/>
                      </a:pPr>
                      <a:r>
                        <a:rPr b="1" lang="en-US" sz="4800" u="none" cap="none" strike="noStrike"/>
                        <a:t>Model Type</a:t>
                      </a:r>
                      <a:endParaRPr b="1"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Calibri"/>
                        <a:buNone/>
                      </a:pPr>
                      <a:r>
                        <a:rPr b="1" lang="en-US" sz="4800" u="none" cap="none" strike="noStrike"/>
                        <a:t>Pros</a:t>
                      </a:r>
                      <a:endParaRPr b="1"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Calibri"/>
                        <a:buNone/>
                      </a:pPr>
                      <a:r>
                        <a:rPr b="1" lang="en-US" sz="4800" u="none" cap="none" strike="noStrike"/>
                        <a:t>Notes</a:t>
                      </a:r>
                      <a:endParaRPr b="1"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125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i="1" lang="en-US" sz="2800" u="none" cap="none" strike="noStrike"/>
                        <a:t> Logistic Regression</a:t>
                      </a:r>
                      <a:endParaRPr b="1" i="1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0" lang="en-US" sz="2800" u="none" cap="none" strike="noStrike"/>
                        <a:t>Interpretable, fast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struggles with non-linear problems and can over fit on high-dimensional data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123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i="1" lang="en-US" sz="2800" u="none" cap="none" strike="noStrike"/>
                        <a:t> Random Forest</a:t>
                      </a:r>
                      <a:endParaRPr b="1" i="1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0" lang="en-US" sz="2800" u="none" cap="none" strike="noStrike"/>
                        <a:t>Handles non-linearity, robust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0" lang="en-US" sz="2800" u="none" cap="none" strike="noStrike"/>
                        <a:t>Use for feature importance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123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i="1" lang="en-US" sz="2800" u="none" cap="none" strike="noStrike"/>
                        <a:t> </a:t>
                      </a:r>
                      <a:r>
                        <a:rPr b="1" i="1" lang="en-US" sz="2800" u="none" cap="none" strike="noStrike"/>
                        <a:t>XGBoost </a:t>
                      </a:r>
                      <a:endParaRPr b="1" i="1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0" lang="en-US" sz="2800" u="none" cap="none" strike="noStrike"/>
                        <a:t>High accuracy, fast training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0" lang="en-US" sz="2800" u="none" cap="none" strike="noStrike"/>
                        <a:t>Great for tabular data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123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i="1" lang="en-US" sz="2800" u="none" cap="none" strike="noStrike"/>
                        <a:t> Deep Learning  NN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i="1" lang="en-US" sz="2800" u="none" cap="none" strike="noStrike"/>
                        <a:t>(</a:t>
                      </a:r>
                      <a:r>
                        <a:rPr b="0" i="1" lang="en-US" sz="3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Neural Network Model</a:t>
                      </a:r>
                      <a:r>
                        <a:rPr b="1" i="1" lang="en-US" sz="3200" u="none" cap="none" strike="noStrike"/>
                        <a:t>)</a:t>
                      </a:r>
                      <a:endParaRPr b="1" i="1" sz="3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0" lang="en-US" sz="2800" u="none" cap="none" strike="noStrike"/>
                        <a:t>Flexible, scalable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0" lang="en-US" sz="2800" u="none" cap="none" strike="noStrike"/>
                        <a:t>Try with dropout + batch norm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10688576" y="0"/>
            <a:ext cx="7599424" cy="1165534"/>
          </a:xfrm>
          <a:custGeom>
            <a:rect b="b" l="l" r="r" t="t"/>
            <a:pathLst>
              <a:path extrusionOk="0" h="1165534" w="759942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485" l="0" r="0" t="-2486"/>
            </a:stretch>
          </a:blipFill>
          <a:ln>
            <a:noFill/>
          </a:ln>
        </p:spPr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609600" y="3087625"/>
            <a:ext cx="15652200" cy="6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●"/>
            </a:pP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model uses a layered neural network to identify patterns, with 64 and 32 neurons capturing key features. </a:t>
            </a:r>
            <a:b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●"/>
            </a:pP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avoid overfitting, dropout layers randomly “turn off” parts of the network during training, keeping the model robust. </a:t>
            </a:r>
            <a:b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●"/>
            </a:pP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 outputs a probability score predicting the target outcome. </a:t>
            </a:r>
            <a:b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●"/>
            </a:pP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Trained using an optimized method (Adam) and stop early once the model stops improving—ensuring efficiency and avoiding unnecessary training. </a:t>
            </a:r>
            <a:b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●"/>
            </a:pP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Validation on separate data confirms the model’s reliability before deployment.</a:t>
            </a: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609599" y="1707425"/>
            <a:ext cx="1706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715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Training </a:t>
            </a:r>
            <a:endParaRPr b="1" sz="72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/>
          <p:nvPr/>
        </p:nvSpPr>
        <p:spPr>
          <a:xfrm>
            <a:off x="838200" y="1716957"/>
            <a:ext cx="16535400" cy="2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endParaRPr sz="1600">
              <a:solidFill>
                <a:srgbClr val="FDFDF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688576" y="0"/>
            <a:ext cx="7599424" cy="1165534"/>
          </a:xfrm>
          <a:custGeom>
            <a:rect b="b" l="l" r="r" t="t"/>
            <a:pathLst>
              <a:path extrusionOk="0" h="1165534" w="759942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485" l="0" r="0" t="-2486"/>
            </a:stretch>
          </a:blipFill>
          <a:ln>
            <a:noFill/>
          </a:ln>
        </p:spPr>
      </p:sp>
      <p:sp>
        <p:nvSpPr>
          <p:cNvPr id="191" name="Google Shape;191;p9"/>
          <p:cNvSpPr txBox="1"/>
          <p:nvPr>
            <p:ph idx="1" type="subTitle"/>
          </p:nvPr>
        </p:nvSpPr>
        <p:spPr>
          <a:xfrm>
            <a:off x="571500" y="3042100"/>
            <a:ext cx="10117200" cy="6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ibre Baskerville"/>
              <a:buChar char="•"/>
            </a:pP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High-risk companies are identified early and with strong sensitivity : </a:t>
            </a:r>
            <a:r>
              <a:rPr b="1"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Recall: 95%</a:t>
            </a:r>
            <a:endParaRPr b="1" sz="29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ibre Baskerville"/>
              <a:buChar char="•"/>
            </a:pP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Unnecessary reviews for healthy companies are kept low :</a:t>
            </a:r>
            <a:r>
              <a:rPr b="1"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b="1"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Precision: 89% </a:t>
            </a:r>
            <a:endParaRPr b="1" sz="29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3815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ibre Baskerville"/>
              <a:buChar char="•"/>
            </a:pP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Predictions remain consistently accurate across the test dataset : </a:t>
            </a:r>
            <a:r>
              <a:rPr b="1"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Accuracy: 92%</a:t>
            </a: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29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3815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ibre Baskerville"/>
              <a:buChar char="•"/>
            </a:pP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strong balance is maintained between catching failures and avoiding false alarms : </a:t>
            </a:r>
            <a:r>
              <a:rPr b="1"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F1 Score: 92%</a:t>
            </a: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29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3815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ibre Baskerville"/>
              <a:buChar char="•"/>
            </a:pP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Financially distressed companies are clearly separated from stable ones : </a:t>
            </a:r>
            <a:r>
              <a:rPr b="1"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ROC-AUC: 0.967</a:t>
            </a: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29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38150" lvl="0" marL="4572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ibre Baskerville"/>
              <a:buChar char="•"/>
            </a:pP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Missed bankruptcies stay minimal while overall classification remains robust :</a:t>
            </a:r>
            <a:endParaRPr sz="29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571499" y="1502625"/>
            <a:ext cx="1706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715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Performance </a:t>
            </a:r>
            <a:endParaRPr b="1" sz="72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93" name="Google Shape;19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05225" y="3527597"/>
            <a:ext cx="6761850" cy="563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10688576" y="17164"/>
            <a:ext cx="7599424" cy="1165534"/>
          </a:xfrm>
          <a:custGeom>
            <a:rect b="b" l="l" r="r" t="t"/>
            <a:pathLst>
              <a:path extrusionOk="0" h="1165534" w="759942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485" l="0" r="0" t="-2486"/>
            </a:stretch>
          </a:blipFill>
          <a:ln>
            <a:noFill/>
          </a:ln>
        </p:spPr>
      </p:sp>
      <p:sp>
        <p:nvSpPr>
          <p:cNvPr id="199" name="Google Shape;199;p10"/>
          <p:cNvSpPr txBox="1"/>
          <p:nvPr/>
        </p:nvSpPr>
        <p:spPr>
          <a:xfrm>
            <a:off x="596300" y="1481675"/>
            <a:ext cx="108561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FDFDF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Improvements</a:t>
            </a:r>
            <a:endParaRPr sz="7200">
              <a:solidFill>
                <a:srgbClr val="FDFDF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586650" y="2755950"/>
            <a:ext cx="17114700" cy="55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●"/>
            </a:pP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Improvements Add Explainability (SHAP) to show why a company is predicted as risky </a:t>
            </a:r>
            <a:b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●"/>
            </a:pP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Shift from binary label → risk probability bands (Low / Medium / High)</a:t>
            </a:r>
            <a:b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●"/>
            </a:pP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Expand dataset with more years or external economic indicators </a:t>
            </a:r>
            <a:b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ibre Baskerville"/>
              <a:buChar char="●"/>
            </a:pPr>
            <a:r>
              <a:rPr lang="en-US" sz="30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Develop a stakeholder dashboard for decision-making</a:t>
            </a:r>
            <a:endParaRPr sz="30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32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10688576" y="17164"/>
            <a:ext cx="7599424" cy="1165534"/>
          </a:xfrm>
          <a:custGeom>
            <a:rect b="b" l="l" r="r" t="t"/>
            <a:pathLst>
              <a:path extrusionOk="0" h="1165534" w="759942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485" l="0" r="0" t="-2486"/>
            </a:stretch>
          </a:blipFill>
          <a:ln>
            <a:noFill/>
          </a:ln>
        </p:spPr>
      </p:sp>
      <p:sp>
        <p:nvSpPr>
          <p:cNvPr id="206" name="Google Shape;206;p11"/>
          <p:cNvSpPr/>
          <p:nvPr/>
        </p:nvSpPr>
        <p:spPr>
          <a:xfrm>
            <a:off x="0" y="17164"/>
            <a:ext cx="8090778" cy="10269836"/>
          </a:xfrm>
          <a:custGeom>
            <a:rect b="b" l="l" r="r" t="t"/>
            <a:pathLst>
              <a:path extrusionOk="0" h="10269836" w="8090778">
                <a:moveTo>
                  <a:pt x="0" y="0"/>
                </a:moveTo>
                <a:lnTo>
                  <a:pt x="8090778" y="0"/>
                </a:lnTo>
                <a:lnTo>
                  <a:pt x="8090778" y="10269836"/>
                </a:lnTo>
                <a:lnTo>
                  <a:pt x="0" y="102698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41221" r="-49291" t="0"/>
            </a:stretch>
          </a:blipFill>
          <a:ln>
            <a:noFill/>
          </a:ln>
        </p:spPr>
      </p:sp>
      <p:sp>
        <p:nvSpPr>
          <p:cNvPr id="207" name="Google Shape;207;p11"/>
          <p:cNvSpPr txBox="1"/>
          <p:nvPr/>
        </p:nvSpPr>
        <p:spPr>
          <a:xfrm>
            <a:off x="8783839" y="4661382"/>
            <a:ext cx="11973772" cy="3016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761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Omega7</dc:creator>
</cp:coreProperties>
</file>