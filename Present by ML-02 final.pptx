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2" r:id="rId6"/>
    <p:sldId id="264" r:id="rId7"/>
    <p:sldId id="265" r:id="rId8"/>
    <p:sldId id="266" r:id="rId9"/>
    <p:sldId id="268" r:id="rId10"/>
    <p:sldId id="260" r:id="rId11"/>
    <p:sldId id="261" r:id="rId12"/>
  </p:sldIdLst>
  <p:sldSz cx="18288000" cy="10287000"/>
  <p:notesSz cx="6858000" cy="9144000"/>
  <p:embeddedFontLst>
    <p:embeddedFont>
      <p:font typeface="Garet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Baskerville Old Face" panose="02020602080505020303" pitchFamily="18" charset="0"/>
      <p:regular r:id="rId18"/>
    </p:embeddedFont>
    <p:embeddedFont>
      <p:font typeface="Above the Beyond Script" panose="020B0604020202020204" charset="0"/>
      <p:regular r:id="rId19"/>
    </p:embeddedFont>
    <p:embeddedFont>
      <p:font typeface="Garet Bold" panose="020B0604020202020204" charset="0"/>
      <p:regular r:id="rId20"/>
    </p:embeddedFont>
    <p:embeddedFont>
      <p:font typeface="Arial Narrow" panose="020B0606020202030204" pitchFamily="34" charset="0"/>
      <p:regular r:id="rId21"/>
      <p:bold r:id="rId22"/>
      <p:italic r:id="rId23"/>
      <p:boldItalic r:id="rId24"/>
    </p:embeddedFont>
    <p:embeddedFont>
      <p:font typeface="League Gothic" panose="020B0604020202020204" charset="0"/>
      <p:regular r:id="rId25"/>
    </p:embeddedFont>
    <p:embeddedFont>
      <p:font typeface="RoxboroughCF Bol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762867"/>
            <a:ext cx="9798151" cy="3495433"/>
            <a:chOff x="0" y="0"/>
            <a:chExt cx="1517990" cy="5415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17990" cy="541534"/>
            </a:xfrm>
            <a:custGeom>
              <a:avLst/>
              <a:gdLst/>
              <a:ahLst/>
              <a:cxnLst/>
              <a:rect l="l" t="t" r="r" b="b"/>
              <a:pathLst>
                <a:path w="1517990" h="541534">
                  <a:moveTo>
                    <a:pt x="0" y="0"/>
                  </a:moveTo>
                  <a:lnTo>
                    <a:pt x="1517990" y="0"/>
                  </a:lnTo>
                  <a:lnTo>
                    <a:pt x="1517990" y="541534"/>
                  </a:lnTo>
                  <a:lnTo>
                    <a:pt x="0" y="541534"/>
                  </a:lnTo>
                  <a:close/>
                </a:path>
              </a:pathLst>
            </a:custGeom>
            <a:blipFill>
              <a:blip r:embed="rId2"/>
              <a:stretch>
                <a:fillRect t="-10092" b="-1009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1370305" y="7269559"/>
            <a:ext cx="6226646" cy="2506472"/>
            <a:chOff x="0" y="0"/>
            <a:chExt cx="1639940" cy="6601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39940" cy="660141"/>
            </a:xfrm>
            <a:custGeom>
              <a:avLst/>
              <a:gdLst/>
              <a:ahLst/>
              <a:cxnLst/>
              <a:rect l="l" t="t" r="r" b="b"/>
              <a:pathLst>
                <a:path w="1639940" h="660141">
                  <a:moveTo>
                    <a:pt x="0" y="0"/>
                  </a:moveTo>
                  <a:lnTo>
                    <a:pt x="1639940" y="0"/>
                  </a:lnTo>
                  <a:lnTo>
                    <a:pt x="1639940" y="660141"/>
                  </a:lnTo>
                  <a:lnTo>
                    <a:pt x="0" y="660141"/>
                  </a:lnTo>
                  <a:close/>
                </a:path>
              </a:pathLst>
            </a:custGeom>
            <a:solidFill>
              <a:srgbClr val="222322"/>
            </a:solidFill>
            <a:ln w="19050" cap="sq">
              <a:gradFill>
                <a:gsLst>
                  <a:gs pos="0">
                    <a:srgbClr val="EEF0FE">
                      <a:alpha val="100000"/>
                    </a:srgbClr>
                  </a:gs>
                  <a:gs pos="25000">
                    <a:srgbClr val="958B96">
                      <a:alpha val="100000"/>
                    </a:srgbClr>
                  </a:gs>
                  <a:gs pos="50000">
                    <a:srgbClr val="EEF1FF">
                      <a:alpha val="100000"/>
                    </a:srgbClr>
                  </a:gs>
                  <a:gs pos="75000">
                    <a:srgbClr val="968B96">
                      <a:alpha val="100000"/>
                    </a:srgbClr>
                  </a:gs>
                  <a:gs pos="100000">
                    <a:srgbClr val="EEF1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639940" cy="698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1152381"/>
            <a:ext cx="9798151" cy="207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35"/>
              </a:lnSpc>
            </a:pPr>
            <a:r>
              <a:rPr lang="en-US" sz="15400" dirty="0">
                <a:solidFill>
                  <a:srgbClr val="FFFFFF"/>
                </a:solidFill>
                <a:latin typeface="Baskerville Old Face" panose="02020602080505020303" pitchFamily="18" charset="0"/>
                <a:ea typeface="League Gothic"/>
                <a:cs typeface="League Gothic"/>
                <a:sym typeface="League Gothic"/>
              </a:rPr>
              <a:t>Analyzing</a:t>
            </a:r>
            <a:r>
              <a:rPr lang="en-US" sz="18449" dirty="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 </a:t>
            </a:r>
          </a:p>
        </p:txBody>
      </p:sp>
      <p:sp>
        <p:nvSpPr>
          <p:cNvPr id="8" name="Freeform 8"/>
          <p:cNvSpPr/>
          <p:nvPr/>
        </p:nvSpPr>
        <p:spPr>
          <a:xfrm>
            <a:off x="10632204" y="-13908"/>
            <a:ext cx="7599424" cy="1165534"/>
          </a:xfrm>
          <a:custGeom>
            <a:avLst/>
            <a:gdLst/>
            <a:ahLst/>
            <a:cxnLst/>
            <a:rect l="l" t="t" r="r" b="b"/>
            <a:pathLst>
              <a:path w="7599424" h="1165534">
                <a:moveTo>
                  <a:pt x="0" y="0"/>
                </a:moveTo>
                <a:lnTo>
                  <a:pt x="7599424" y="0"/>
                </a:lnTo>
                <a:lnTo>
                  <a:pt x="7599424" y="1165534"/>
                </a:lnTo>
                <a:lnTo>
                  <a:pt x="0" y="11655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87" b="-2487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26514" y="3816684"/>
            <a:ext cx="13218969" cy="1513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76"/>
              </a:lnSpc>
            </a:pPr>
            <a:r>
              <a:rPr lang="en-US" sz="9600" dirty="0">
                <a:solidFill>
                  <a:srgbClr val="FFFFFF"/>
                </a:solidFill>
                <a:latin typeface="Baskerville Old Face" panose="02020602080505020303" pitchFamily="18" charset="0"/>
                <a:ea typeface="League Gothic"/>
                <a:cs typeface="League Gothic"/>
                <a:sym typeface="League Gothic"/>
              </a:rPr>
              <a:t>Bankruptcy Data set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67190" y="7580860"/>
            <a:ext cx="4248264" cy="1755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3"/>
              </a:lnSpc>
            </a:pPr>
            <a:r>
              <a:rPr lang="en-US" sz="5205" b="1">
                <a:solidFill>
                  <a:srgbClr val="FFFFFF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ML 02</a:t>
            </a:r>
          </a:p>
          <a:p>
            <a:pPr algn="l">
              <a:lnSpc>
                <a:spcPts val="5153"/>
              </a:lnSpc>
            </a:pPr>
            <a:endParaRPr lang="en-US" sz="5205" b="1">
              <a:solidFill>
                <a:srgbClr val="FFFFFF"/>
              </a:solidFill>
              <a:latin typeface="RoxboroughCF Bold"/>
              <a:ea typeface="RoxboroughCF Bold"/>
              <a:cs typeface="RoxboroughCF Bold"/>
              <a:sym typeface="RoxboroughCF Bold"/>
            </a:endParaRPr>
          </a:p>
          <a:p>
            <a:pPr algn="l">
              <a:lnSpc>
                <a:spcPts val="3569"/>
              </a:lnSpc>
            </a:pPr>
            <a:r>
              <a:rPr lang="en-US" sz="3605">
                <a:solidFill>
                  <a:srgbClr val="FFDE59"/>
                </a:solidFill>
                <a:latin typeface="Above the Beyond Script"/>
                <a:ea typeface="Above the Beyond Script"/>
                <a:cs typeface="Above the Beyond Script"/>
                <a:sym typeface="Above the Beyond Script"/>
              </a:rPr>
              <a:t>Cohort 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5394" y="3892089"/>
            <a:ext cx="3523603" cy="2687868"/>
            <a:chOff x="0" y="0"/>
            <a:chExt cx="928027" cy="7079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8027" cy="707916"/>
            </a:xfrm>
            <a:custGeom>
              <a:avLst/>
              <a:gdLst/>
              <a:ahLst/>
              <a:cxnLst/>
              <a:rect l="l" t="t" r="r" b="b"/>
              <a:pathLst>
                <a:path w="928027" h="707916">
                  <a:moveTo>
                    <a:pt x="0" y="0"/>
                  </a:moveTo>
                  <a:lnTo>
                    <a:pt x="928027" y="0"/>
                  </a:lnTo>
                  <a:lnTo>
                    <a:pt x="928027" y="707916"/>
                  </a:lnTo>
                  <a:lnTo>
                    <a:pt x="0" y="7079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322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28027" cy="7460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809947" y="4025210"/>
            <a:ext cx="3523603" cy="2687868"/>
            <a:chOff x="0" y="0"/>
            <a:chExt cx="928027" cy="7079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28027" cy="707916"/>
            </a:xfrm>
            <a:custGeom>
              <a:avLst/>
              <a:gdLst/>
              <a:ahLst/>
              <a:cxnLst/>
              <a:rect l="l" t="t" r="r" b="b"/>
              <a:pathLst>
                <a:path w="928027" h="707916">
                  <a:moveTo>
                    <a:pt x="0" y="0"/>
                  </a:moveTo>
                  <a:lnTo>
                    <a:pt x="928027" y="0"/>
                  </a:lnTo>
                  <a:lnTo>
                    <a:pt x="928027" y="707916"/>
                  </a:lnTo>
                  <a:lnTo>
                    <a:pt x="0" y="7079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322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928027" cy="7460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819472" y="3892089"/>
            <a:ext cx="3523603" cy="2687868"/>
            <a:chOff x="0" y="0"/>
            <a:chExt cx="928027" cy="70791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28027" cy="707916"/>
            </a:xfrm>
            <a:custGeom>
              <a:avLst/>
              <a:gdLst/>
              <a:ahLst/>
              <a:cxnLst/>
              <a:rect l="l" t="t" r="r" b="b"/>
              <a:pathLst>
                <a:path w="928027" h="707916">
                  <a:moveTo>
                    <a:pt x="0" y="0"/>
                  </a:moveTo>
                  <a:lnTo>
                    <a:pt x="928027" y="0"/>
                  </a:lnTo>
                  <a:lnTo>
                    <a:pt x="928027" y="707916"/>
                  </a:lnTo>
                  <a:lnTo>
                    <a:pt x="0" y="7079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322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928027" cy="7460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819472" y="6570432"/>
            <a:ext cx="3523603" cy="2687868"/>
            <a:chOff x="0" y="0"/>
            <a:chExt cx="928027" cy="70791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28027" cy="707916"/>
            </a:xfrm>
            <a:custGeom>
              <a:avLst/>
              <a:gdLst/>
              <a:ahLst/>
              <a:cxnLst/>
              <a:rect l="l" t="t" r="r" b="b"/>
              <a:pathLst>
                <a:path w="928027" h="707916">
                  <a:moveTo>
                    <a:pt x="0" y="0"/>
                  </a:moveTo>
                  <a:lnTo>
                    <a:pt x="928027" y="0"/>
                  </a:lnTo>
                  <a:lnTo>
                    <a:pt x="928027" y="707916"/>
                  </a:lnTo>
                  <a:lnTo>
                    <a:pt x="0" y="7079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322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928027" cy="7460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333550" y="3892089"/>
            <a:ext cx="3523603" cy="2687868"/>
            <a:chOff x="0" y="0"/>
            <a:chExt cx="928027" cy="70791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28027" cy="707916"/>
            </a:xfrm>
            <a:custGeom>
              <a:avLst/>
              <a:gdLst/>
              <a:ahLst/>
              <a:cxnLst/>
              <a:rect l="l" t="t" r="r" b="b"/>
              <a:pathLst>
                <a:path w="928027" h="707916">
                  <a:moveTo>
                    <a:pt x="0" y="0"/>
                  </a:moveTo>
                  <a:lnTo>
                    <a:pt x="928027" y="0"/>
                  </a:lnTo>
                  <a:lnTo>
                    <a:pt x="928027" y="707916"/>
                  </a:lnTo>
                  <a:lnTo>
                    <a:pt x="0" y="7079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322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928027" cy="7460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7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333550" y="6570432"/>
            <a:ext cx="3523603" cy="2687868"/>
            <a:chOff x="0" y="0"/>
            <a:chExt cx="928027" cy="70791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28027" cy="707916"/>
            </a:xfrm>
            <a:custGeom>
              <a:avLst/>
              <a:gdLst/>
              <a:ahLst/>
              <a:cxnLst/>
              <a:rect l="l" t="t" r="r" b="b"/>
              <a:pathLst>
                <a:path w="928027" h="707916">
                  <a:moveTo>
                    <a:pt x="0" y="0"/>
                  </a:moveTo>
                  <a:lnTo>
                    <a:pt x="928027" y="0"/>
                  </a:lnTo>
                  <a:lnTo>
                    <a:pt x="928027" y="707916"/>
                  </a:lnTo>
                  <a:lnTo>
                    <a:pt x="0" y="7079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322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928027" cy="7460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7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847627" y="3892089"/>
            <a:ext cx="3523603" cy="2687868"/>
            <a:chOff x="0" y="0"/>
            <a:chExt cx="928027" cy="70791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28027" cy="707916"/>
            </a:xfrm>
            <a:custGeom>
              <a:avLst/>
              <a:gdLst/>
              <a:ahLst/>
              <a:cxnLst/>
              <a:rect l="l" t="t" r="r" b="b"/>
              <a:pathLst>
                <a:path w="928027" h="707916">
                  <a:moveTo>
                    <a:pt x="0" y="0"/>
                  </a:moveTo>
                  <a:lnTo>
                    <a:pt x="928027" y="0"/>
                  </a:lnTo>
                  <a:lnTo>
                    <a:pt x="928027" y="707916"/>
                  </a:lnTo>
                  <a:lnTo>
                    <a:pt x="0" y="7079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322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928027" cy="7460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7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4163610" y="4130713"/>
            <a:ext cx="408212" cy="408212"/>
          </a:xfrm>
          <a:custGeom>
            <a:avLst/>
            <a:gdLst/>
            <a:ahLst/>
            <a:cxnLst/>
            <a:rect l="l" t="t" r="r" b="b"/>
            <a:pathLst>
              <a:path w="408212" h="408212">
                <a:moveTo>
                  <a:pt x="0" y="0"/>
                </a:moveTo>
                <a:lnTo>
                  <a:pt x="408212" y="0"/>
                </a:lnTo>
                <a:lnTo>
                  <a:pt x="408212" y="408212"/>
                </a:lnTo>
                <a:lnTo>
                  <a:pt x="0" y="40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4876746" y="4032557"/>
            <a:ext cx="408212" cy="408212"/>
          </a:xfrm>
          <a:custGeom>
            <a:avLst/>
            <a:gdLst/>
            <a:ahLst/>
            <a:cxnLst/>
            <a:rect l="l" t="t" r="r" b="b"/>
            <a:pathLst>
              <a:path w="408212" h="408212">
                <a:moveTo>
                  <a:pt x="0" y="0"/>
                </a:moveTo>
                <a:lnTo>
                  <a:pt x="408211" y="0"/>
                </a:lnTo>
                <a:lnTo>
                  <a:pt x="408211" y="408212"/>
                </a:lnTo>
                <a:lnTo>
                  <a:pt x="0" y="40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7677688" y="4130713"/>
            <a:ext cx="408212" cy="408212"/>
          </a:xfrm>
          <a:custGeom>
            <a:avLst/>
            <a:gdLst/>
            <a:ahLst/>
            <a:cxnLst/>
            <a:rect l="l" t="t" r="r" b="b"/>
            <a:pathLst>
              <a:path w="408212" h="408212">
                <a:moveTo>
                  <a:pt x="0" y="0"/>
                </a:moveTo>
                <a:lnTo>
                  <a:pt x="408212" y="0"/>
                </a:lnTo>
                <a:lnTo>
                  <a:pt x="408212" y="408212"/>
                </a:lnTo>
                <a:lnTo>
                  <a:pt x="0" y="40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7677688" y="6818082"/>
            <a:ext cx="408212" cy="408212"/>
          </a:xfrm>
          <a:custGeom>
            <a:avLst/>
            <a:gdLst/>
            <a:ahLst/>
            <a:cxnLst/>
            <a:rect l="l" t="t" r="r" b="b"/>
            <a:pathLst>
              <a:path w="408212" h="408212">
                <a:moveTo>
                  <a:pt x="0" y="0"/>
                </a:moveTo>
                <a:lnTo>
                  <a:pt x="408212" y="0"/>
                </a:lnTo>
                <a:lnTo>
                  <a:pt x="408212" y="408212"/>
                </a:lnTo>
                <a:lnTo>
                  <a:pt x="0" y="40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1191766" y="4130713"/>
            <a:ext cx="408212" cy="408212"/>
          </a:xfrm>
          <a:custGeom>
            <a:avLst/>
            <a:gdLst/>
            <a:ahLst/>
            <a:cxnLst/>
            <a:rect l="l" t="t" r="r" b="b"/>
            <a:pathLst>
              <a:path w="408212" h="408212">
                <a:moveTo>
                  <a:pt x="0" y="0"/>
                </a:moveTo>
                <a:lnTo>
                  <a:pt x="408211" y="0"/>
                </a:lnTo>
                <a:lnTo>
                  <a:pt x="408211" y="408212"/>
                </a:lnTo>
                <a:lnTo>
                  <a:pt x="0" y="40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1191766" y="6818082"/>
            <a:ext cx="408212" cy="408212"/>
          </a:xfrm>
          <a:custGeom>
            <a:avLst/>
            <a:gdLst/>
            <a:ahLst/>
            <a:cxnLst/>
            <a:rect l="l" t="t" r="r" b="b"/>
            <a:pathLst>
              <a:path w="408212" h="408212">
                <a:moveTo>
                  <a:pt x="0" y="0"/>
                </a:moveTo>
                <a:lnTo>
                  <a:pt x="408211" y="0"/>
                </a:lnTo>
                <a:lnTo>
                  <a:pt x="408211" y="408212"/>
                </a:lnTo>
                <a:lnTo>
                  <a:pt x="0" y="40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4705844" y="4130713"/>
            <a:ext cx="408212" cy="408212"/>
          </a:xfrm>
          <a:custGeom>
            <a:avLst/>
            <a:gdLst/>
            <a:ahLst/>
            <a:cxnLst/>
            <a:rect l="l" t="t" r="r" b="b"/>
            <a:pathLst>
              <a:path w="408212" h="408212">
                <a:moveTo>
                  <a:pt x="0" y="0"/>
                </a:moveTo>
                <a:lnTo>
                  <a:pt x="408211" y="0"/>
                </a:lnTo>
                <a:lnTo>
                  <a:pt x="408211" y="408212"/>
                </a:lnTo>
                <a:lnTo>
                  <a:pt x="0" y="40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305394" y="1502910"/>
            <a:ext cx="12465995" cy="1782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875"/>
              </a:lnSpc>
            </a:pPr>
            <a:r>
              <a:rPr lang="en-US" sz="11500" spc="-756" dirty="0">
                <a:solidFill>
                  <a:srgbClr val="FFFFFF"/>
                </a:solidFill>
                <a:latin typeface="Baskerville Old Face" panose="02020602080505020303" pitchFamily="18" charset="0"/>
                <a:ea typeface="League Gothic"/>
                <a:cs typeface="League Gothic"/>
                <a:sym typeface="League Gothic"/>
              </a:rPr>
              <a:t>List of Contents</a:t>
            </a:r>
          </a:p>
        </p:txBody>
      </p:sp>
      <p:sp>
        <p:nvSpPr>
          <p:cNvPr id="31" name="Freeform 31"/>
          <p:cNvSpPr/>
          <p:nvPr/>
        </p:nvSpPr>
        <p:spPr>
          <a:xfrm>
            <a:off x="10688576" y="0"/>
            <a:ext cx="7599424" cy="1165534"/>
          </a:xfrm>
          <a:custGeom>
            <a:avLst/>
            <a:gdLst/>
            <a:ahLst/>
            <a:cxnLst/>
            <a:rect l="l" t="t" r="r" b="b"/>
            <a:pathLst>
              <a:path w="7599424" h="1165534">
                <a:moveTo>
                  <a:pt x="0" y="0"/>
                </a:moveTo>
                <a:lnTo>
                  <a:pt x="7599424" y="0"/>
                </a:lnTo>
                <a:lnTo>
                  <a:pt x="7599424" y="1165534"/>
                </a:lnTo>
                <a:lnTo>
                  <a:pt x="0" y="1165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487" b="-2487"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2912829" y="6703553"/>
            <a:ext cx="5375171" cy="3583447"/>
          </a:xfrm>
          <a:custGeom>
            <a:avLst/>
            <a:gdLst/>
            <a:ahLst/>
            <a:cxnLst/>
            <a:rect l="l" t="t" r="r" b="b"/>
            <a:pathLst>
              <a:path w="5375171" h="3583447">
                <a:moveTo>
                  <a:pt x="0" y="0"/>
                </a:moveTo>
                <a:lnTo>
                  <a:pt x="5375171" y="0"/>
                </a:lnTo>
                <a:lnTo>
                  <a:pt x="5375171" y="3583447"/>
                </a:lnTo>
                <a:lnTo>
                  <a:pt x="0" y="35834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566774" y="3882335"/>
            <a:ext cx="1688452" cy="117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6800" b="1" spc="-163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66774" y="6560678"/>
            <a:ext cx="1711011" cy="117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6800" b="1" spc="-163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080852" y="3882335"/>
            <a:ext cx="1225711" cy="117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6800" b="1" spc="-163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080852" y="6560678"/>
            <a:ext cx="1706250" cy="117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6800" b="1" spc="-163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566774" y="5014540"/>
            <a:ext cx="2510703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spc="-64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Who We Are?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566774" y="7692883"/>
            <a:ext cx="2510703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spc="-64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Results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080852" y="5014540"/>
            <a:ext cx="2510703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spc="-64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Business Case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080852" y="7692883"/>
            <a:ext cx="2510703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spc="-64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Summary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66774" y="5601464"/>
            <a:ext cx="2874237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spc="-51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Our Group.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566774" y="8279807"/>
            <a:ext cx="2874237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spc="-51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Model Performance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080852" y="8279807"/>
            <a:ext cx="2874237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spc="-51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Summarize the  findings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594929" y="3882335"/>
            <a:ext cx="1670654" cy="117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6800" b="1" spc="-163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594929" y="6560678"/>
            <a:ext cx="1958661" cy="117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6800" b="1" spc="-163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594929" y="5014540"/>
            <a:ext cx="2510703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spc="-64" dirty="0" smtClean="0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Learning</a:t>
            </a:r>
            <a:endParaRPr lang="en-US" sz="2000" b="1" spc="-64" dirty="0">
              <a:solidFill>
                <a:srgbClr val="FDFDFD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8594929" y="7692883"/>
            <a:ext cx="2510703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spc="-64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Future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594929" y="5601464"/>
            <a:ext cx="2874237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spc="-51" dirty="0" smtClean="0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Learnings from different models</a:t>
            </a:r>
            <a:endParaRPr lang="en-US" sz="1600" spc="-51" dirty="0">
              <a:solidFill>
                <a:srgbClr val="FDFDFD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8594929" y="8279807"/>
            <a:ext cx="2874237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spc="-51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Reproducibility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109007" y="3882335"/>
            <a:ext cx="1958661" cy="117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6800" b="1" spc="-163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2109007" y="5014540"/>
            <a:ext cx="2510703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spc="-64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Model development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2109007" y="5744297"/>
            <a:ext cx="2510703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spc="-51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.ML model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144155" y="5534747"/>
            <a:ext cx="2874237" cy="53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spc="-51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Highlighting dataset,  Why to analyze the dataset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11920" y="4735288"/>
            <a:ext cx="408212" cy="408212"/>
          </a:xfrm>
          <a:custGeom>
            <a:avLst/>
            <a:gdLst/>
            <a:ahLst/>
            <a:cxnLst/>
            <a:rect l="l" t="t" r="r" b="b"/>
            <a:pathLst>
              <a:path w="408212" h="408212">
                <a:moveTo>
                  <a:pt x="0" y="0"/>
                </a:moveTo>
                <a:lnTo>
                  <a:pt x="408211" y="0"/>
                </a:lnTo>
                <a:lnTo>
                  <a:pt x="408211" y="408212"/>
                </a:lnTo>
                <a:lnTo>
                  <a:pt x="0" y="40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81657" y="1638300"/>
            <a:ext cx="10367119" cy="2123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20"/>
              </a:lnSpc>
            </a:pPr>
            <a:r>
              <a:rPr lang="en-US" sz="11500" spc="-977" dirty="0">
                <a:solidFill>
                  <a:srgbClr val="FDFDFD"/>
                </a:solidFill>
                <a:latin typeface="Baskerville Old Face" panose="02020602080505020303" pitchFamily="18" charset="0"/>
                <a:ea typeface="League Gothic"/>
                <a:cs typeface="League Gothic"/>
                <a:sym typeface="League Gothic"/>
              </a:rPr>
              <a:t>Our Team</a:t>
            </a:r>
          </a:p>
        </p:txBody>
      </p:sp>
      <p:sp>
        <p:nvSpPr>
          <p:cNvPr id="4" name="Freeform 4"/>
          <p:cNvSpPr/>
          <p:nvPr/>
        </p:nvSpPr>
        <p:spPr>
          <a:xfrm>
            <a:off x="10688576" y="0"/>
            <a:ext cx="7599424" cy="1165534"/>
          </a:xfrm>
          <a:custGeom>
            <a:avLst/>
            <a:gdLst/>
            <a:ahLst/>
            <a:cxnLst/>
            <a:rect l="l" t="t" r="r" b="b"/>
            <a:pathLst>
              <a:path w="7599424" h="1165534">
                <a:moveTo>
                  <a:pt x="0" y="0"/>
                </a:moveTo>
                <a:lnTo>
                  <a:pt x="7599424" y="0"/>
                </a:lnTo>
                <a:lnTo>
                  <a:pt x="7599424" y="1165534"/>
                </a:lnTo>
                <a:lnTo>
                  <a:pt x="0" y="1165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487" b="-2487"/>
            </a:stretch>
          </a:blipFill>
        </p:spPr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9210" y="5125813"/>
            <a:ext cx="7858790" cy="5161187"/>
          </a:xfrm>
          <a:prstGeom prst="rect">
            <a:avLst/>
          </a:prstGeom>
        </p:spPr>
      </p:pic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111920" y="6210300"/>
            <a:ext cx="6400800" cy="1752600"/>
          </a:xfrm>
        </p:spPr>
        <p:txBody>
          <a:bodyPr>
            <a:no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CA" sz="4400" dirty="0" err="1">
                <a:solidFill>
                  <a:schemeClr val="bg1"/>
                </a:solidFill>
              </a:rPr>
              <a:t>Bakary</a:t>
            </a:r>
            <a:r>
              <a:rPr lang="en-CA" sz="4400" dirty="0">
                <a:solidFill>
                  <a:schemeClr val="bg1"/>
                </a:solidFill>
              </a:rPr>
              <a:t> </a:t>
            </a:r>
            <a:r>
              <a:rPr lang="en-CA" sz="4400" dirty="0" err="1">
                <a:solidFill>
                  <a:schemeClr val="bg1"/>
                </a:solidFill>
              </a:rPr>
              <a:t>Sanogo</a:t>
            </a:r>
            <a:endParaRPr lang="en-CA" sz="4400" dirty="0">
              <a:solidFill>
                <a:schemeClr val="bg1"/>
              </a:solidFill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CA" sz="4400" dirty="0" err="1">
                <a:solidFill>
                  <a:schemeClr val="bg1"/>
                </a:solidFill>
              </a:rPr>
              <a:t>Doren</a:t>
            </a:r>
            <a:r>
              <a:rPr lang="en-CA" sz="4400" dirty="0">
                <a:solidFill>
                  <a:schemeClr val="bg1"/>
                </a:solidFill>
              </a:rPr>
              <a:t> Chan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CA" sz="4400" dirty="0" err="1">
                <a:solidFill>
                  <a:schemeClr val="bg1"/>
                </a:solidFill>
              </a:rPr>
              <a:t>Oshinee</a:t>
            </a:r>
            <a:r>
              <a:rPr lang="en-CA" sz="4400" dirty="0">
                <a:solidFill>
                  <a:schemeClr val="bg1"/>
                </a:solidFill>
              </a:rPr>
              <a:t> </a:t>
            </a:r>
            <a:r>
              <a:rPr lang="en-CA" sz="4400" dirty="0" err="1">
                <a:solidFill>
                  <a:schemeClr val="bg1"/>
                </a:solidFill>
              </a:rPr>
              <a:t>Mendis</a:t>
            </a:r>
            <a:endParaRPr lang="en-CA" sz="4400" dirty="0">
              <a:solidFill>
                <a:schemeClr val="bg1"/>
              </a:solidFill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CA" sz="4400" dirty="0" err="1">
                <a:solidFill>
                  <a:schemeClr val="bg1"/>
                </a:solidFill>
              </a:rPr>
              <a:t>Shripad</a:t>
            </a:r>
            <a:r>
              <a:rPr lang="en-CA" sz="4400" dirty="0">
                <a:solidFill>
                  <a:schemeClr val="bg1"/>
                </a:solidFill>
              </a:rPr>
              <a:t> </a:t>
            </a:r>
            <a:r>
              <a:rPr lang="en-CA" sz="4400" dirty="0" err="1">
                <a:solidFill>
                  <a:schemeClr val="bg1"/>
                </a:solidFill>
              </a:rPr>
              <a:t>Tak</a:t>
            </a:r>
            <a:endParaRPr lang="en-CA"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11920" y="4735288"/>
            <a:ext cx="408212" cy="408212"/>
          </a:xfrm>
          <a:custGeom>
            <a:avLst/>
            <a:gdLst/>
            <a:ahLst/>
            <a:cxnLst/>
            <a:rect l="l" t="t" r="r" b="b"/>
            <a:pathLst>
              <a:path w="408212" h="408212">
                <a:moveTo>
                  <a:pt x="0" y="0"/>
                </a:moveTo>
                <a:lnTo>
                  <a:pt x="408211" y="0"/>
                </a:lnTo>
                <a:lnTo>
                  <a:pt x="408211" y="408212"/>
                </a:lnTo>
                <a:lnTo>
                  <a:pt x="0" y="40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38200" y="1716957"/>
            <a:ext cx="10367119" cy="2204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20"/>
              </a:lnSpc>
            </a:pPr>
            <a:r>
              <a:rPr lang="en-US" sz="11500" spc="-977" dirty="0">
                <a:solidFill>
                  <a:srgbClr val="FDFDFD"/>
                </a:solidFill>
                <a:latin typeface="Baskerville Old Face" panose="02020602080505020303" pitchFamily="18" charset="0"/>
                <a:ea typeface="League Gothic"/>
                <a:cs typeface="League Gothic"/>
                <a:sym typeface="League Gothic"/>
              </a:rPr>
              <a:t>Our </a:t>
            </a:r>
            <a:r>
              <a:rPr lang="en-US" sz="11500" spc="-977" dirty="0" smtClean="0">
                <a:solidFill>
                  <a:srgbClr val="FDFDFD"/>
                </a:solidFill>
                <a:latin typeface="Baskerville Old Face" panose="02020602080505020303" pitchFamily="18" charset="0"/>
                <a:ea typeface="League Gothic"/>
                <a:cs typeface="League Gothic"/>
                <a:sym typeface="League Gothic"/>
              </a:rPr>
              <a:t>Project</a:t>
            </a:r>
            <a:endParaRPr lang="en-US" sz="11500" spc="-977" dirty="0">
              <a:solidFill>
                <a:srgbClr val="FDFDFD"/>
              </a:solidFill>
              <a:latin typeface="Baskerville Old Face" panose="02020602080505020303" pitchFamily="18" charset="0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688576" y="0"/>
            <a:ext cx="7599424" cy="1165534"/>
          </a:xfrm>
          <a:custGeom>
            <a:avLst/>
            <a:gdLst/>
            <a:ahLst/>
            <a:cxnLst/>
            <a:rect l="l" t="t" r="r" b="b"/>
            <a:pathLst>
              <a:path w="7599424" h="1165534">
                <a:moveTo>
                  <a:pt x="0" y="0"/>
                </a:moveTo>
                <a:lnTo>
                  <a:pt x="7599424" y="0"/>
                </a:lnTo>
                <a:lnTo>
                  <a:pt x="7599424" y="1165534"/>
                </a:lnTo>
                <a:lnTo>
                  <a:pt x="0" y="1165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487" b="-2487"/>
            </a:stretch>
          </a:blipFill>
        </p:spPr>
      </p:sp>
      <p:sp>
        <p:nvSpPr>
          <p:cNvPr id="7" name="Subtitle 6"/>
          <p:cNvSpPr>
            <a:spLocks noGrp="1"/>
          </p:cNvSpPr>
          <p:nvPr>
            <p:ph type="body" idx="1"/>
          </p:nvPr>
        </p:nvSpPr>
        <p:spPr>
          <a:xfrm>
            <a:off x="9220200" y="1716957"/>
            <a:ext cx="8610600" cy="7846144"/>
          </a:xfrm>
        </p:spPr>
        <p:txBody>
          <a:bodyPr>
            <a:no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4400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Company Bankruptcy Dataset</a:t>
            </a:r>
            <a:endParaRPr lang="en-US" sz="4400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i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Source</a:t>
            </a:r>
            <a:r>
              <a:rPr lang="en-US" i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: </a:t>
            </a:r>
            <a:r>
              <a:rPr lang="en-US" sz="2400" i="1" dirty="0">
                <a:solidFill>
                  <a:srgbClr val="FFFF00"/>
                </a:solidFill>
                <a:latin typeface="Arial Narrow" panose="020B0606020202030204" pitchFamily="34" charset="0"/>
              </a:rPr>
              <a:t>Taiwan Economic Journal for the years </a:t>
            </a:r>
            <a:r>
              <a:rPr lang="en-US" sz="2400" i="1" dirty="0" smtClean="0">
                <a:solidFill>
                  <a:srgbClr val="FFFF00"/>
                </a:solidFill>
                <a:latin typeface="Arial Narrow" panose="020B0606020202030204" pitchFamily="34" charset="0"/>
              </a:rPr>
              <a:t>1999–2009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400" i="1" dirty="0">
              <a:solidFill>
                <a:srgbClr val="FFFF00"/>
              </a:solidFill>
              <a:latin typeface="Arial Narrow" panose="020B0606020202030204" pitchFamily="34" charset="0"/>
            </a:endParaRPr>
          </a:p>
          <a:p>
            <a:r>
              <a:rPr lang="en-CA" sz="3200" b="1" dirty="0">
                <a:solidFill>
                  <a:schemeClr val="bg1"/>
                </a:solidFill>
              </a:rPr>
              <a:t>Instances</a:t>
            </a:r>
            <a:r>
              <a:rPr lang="en-CA" sz="3200" dirty="0">
                <a:solidFill>
                  <a:schemeClr val="bg1"/>
                </a:solidFill>
              </a:rPr>
              <a:t>: 6,819 </a:t>
            </a:r>
            <a:r>
              <a:rPr lang="en-CA" sz="3200" dirty="0" smtClean="0">
                <a:solidFill>
                  <a:schemeClr val="bg1"/>
                </a:solidFill>
              </a:rPr>
              <a:t>companies</a:t>
            </a:r>
          </a:p>
          <a:p>
            <a:endParaRPr lang="en-CA" sz="3200" dirty="0">
              <a:solidFill>
                <a:schemeClr val="bg1"/>
              </a:solidFill>
            </a:endParaRPr>
          </a:p>
          <a:p>
            <a:r>
              <a:rPr lang="en-CA" sz="3200" b="1" dirty="0">
                <a:solidFill>
                  <a:schemeClr val="bg1"/>
                </a:solidFill>
              </a:rPr>
              <a:t>Features</a:t>
            </a:r>
            <a:r>
              <a:rPr lang="en-CA" sz="3200" dirty="0">
                <a:solidFill>
                  <a:schemeClr val="bg1"/>
                </a:solidFill>
              </a:rPr>
              <a:t>: 96 financial ratios (e.g., debt ratio, net profit margin, ROA</a:t>
            </a:r>
            <a:r>
              <a:rPr lang="en-CA" sz="3200" dirty="0" smtClean="0">
                <a:solidFill>
                  <a:schemeClr val="bg1"/>
                </a:solidFill>
              </a:rPr>
              <a:t>)</a:t>
            </a:r>
          </a:p>
          <a:p>
            <a:endParaRPr lang="en-CA" sz="3200" dirty="0">
              <a:solidFill>
                <a:schemeClr val="bg1"/>
              </a:solidFill>
            </a:endParaRPr>
          </a:p>
          <a:p>
            <a:r>
              <a:rPr lang="en-CA" sz="3200" b="1" dirty="0">
                <a:solidFill>
                  <a:schemeClr val="bg1"/>
                </a:solidFill>
              </a:rPr>
              <a:t>Target</a:t>
            </a:r>
            <a:r>
              <a:rPr lang="en-CA" sz="3200" dirty="0">
                <a:solidFill>
                  <a:schemeClr val="bg1"/>
                </a:solidFill>
              </a:rPr>
              <a:t>: Binary label — 1 for bankrupt, 0 for </a:t>
            </a:r>
            <a:r>
              <a:rPr lang="en-CA" sz="3200" dirty="0" smtClean="0">
                <a:solidFill>
                  <a:schemeClr val="bg1"/>
                </a:solidFill>
              </a:rPr>
              <a:t>non-bankrupt</a:t>
            </a:r>
          </a:p>
          <a:p>
            <a:endParaRPr lang="en-CA" sz="3200" dirty="0">
              <a:solidFill>
                <a:schemeClr val="bg1"/>
              </a:solidFill>
            </a:endParaRPr>
          </a:p>
          <a:p>
            <a:r>
              <a:rPr lang="en-CA" sz="3200" b="1" dirty="0">
                <a:solidFill>
                  <a:schemeClr val="bg1"/>
                </a:solidFill>
              </a:rPr>
              <a:t>Class Distribution</a:t>
            </a:r>
            <a:r>
              <a:rPr lang="en-CA" sz="3200" dirty="0">
                <a:solidFill>
                  <a:schemeClr val="bg1"/>
                </a:solidFill>
              </a:rPr>
              <a:t>: Bankruptcy cases represent approximately 3.23% of the dataset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929063"/>
            <a:ext cx="8658724" cy="4329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363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11920" y="4735288"/>
            <a:ext cx="408212" cy="408212"/>
          </a:xfrm>
          <a:custGeom>
            <a:avLst/>
            <a:gdLst/>
            <a:ahLst/>
            <a:cxnLst/>
            <a:rect l="l" t="t" r="r" b="b"/>
            <a:pathLst>
              <a:path w="408212" h="408212">
                <a:moveTo>
                  <a:pt x="0" y="0"/>
                </a:moveTo>
                <a:lnTo>
                  <a:pt x="408211" y="0"/>
                </a:lnTo>
                <a:lnTo>
                  <a:pt x="408211" y="408212"/>
                </a:lnTo>
                <a:lnTo>
                  <a:pt x="0" y="40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38200" y="1716957"/>
            <a:ext cx="10367119" cy="2204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20"/>
              </a:lnSpc>
            </a:pPr>
            <a:r>
              <a:rPr lang="en-US" sz="11500" spc="-977" dirty="0" smtClean="0">
                <a:solidFill>
                  <a:srgbClr val="FDFDFD"/>
                </a:solidFill>
                <a:latin typeface="Baskerville Old Face" panose="02020602080505020303" pitchFamily="18" charset="0"/>
                <a:ea typeface="League Gothic"/>
                <a:cs typeface="League Gothic"/>
                <a:sym typeface="League Gothic"/>
              </a:rPr>
              <a:t>Business Case</a:t>
            </a:r>
            <a:endParaRPr lang="en-US" sz="11500" spc="-977" dirty="0">
              <a:solidFill>
                <a:srgbClr val="FDFDFD"/>
              </a:solidFill>
              <a:latin typeface="Baskerville Old Face" panose="02020602080505020303" pitchFamily="18" charset="0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688576" y="0"/>
            <a:ext cx="7599424" cy="1165534"/>
          </a:xfrm>
          <a:custGeom>
            <a:avLst/>
            <a:gdLst/>
            <a:ahLst/>
            <a:cxnLst/>
            <a:rect l="l" t="t" r="r" b="b"/>
            <a:pathLst>
              <a:path w="7599424" h="1165534">
                <a:moveTo>
                  <a:pt x="0" y="0"/>
                </a:moveTo>
                <a:lnTo>
                  <a:pt x="7599424" y="0"/>
                </a:lnTo>
                <a:lnTo>
                  <a:pt x="7599424" y="1165534"/>
                </a:lnTo>
                <a:lnTo>
                  <a:pt x="0" y="1165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487" b="-2487"/>
            </a:stretch>
          </a:blipFill>
        </p:spPr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829800" y="8267700"/>
            <a:ext cx="8229600" cy="1676400"/>
          </a:xfrm>
        </p:spPr>
        <p:txBody>
          <a:bodyPr>
            <a:normAutofit/>
          </a:bodyPr>
          <a:lstStyle/>
          <a:p>
            <a:pPr algn="l"/>
            <a:r>
              <a:rPr lang="en-US" sz="2800" i="1" dirty="0" smtClean="0">
                <a:solidFill>
                  <a:srgbClr val="FFFF00"/>
                </a:solidFill>
              </a:rPr>
              <a:t>Limitations</a:t>
            </a:r>
            <a:r>
              <a:rPr lang="en-CA" sz="2800" i="1" dirty="0">
                <a:solidFill>
                  <a:srgbClr val="FFFF00"/>
                </a:solidFill>
              </a:rPr>
              <a:t/>
            </a:r>
            <a:br>
              <a:rPr lang="en-CA" sz="2800" i="1" dirty="0">
                <a:solidFill>
                  <a:srgbClr val="FFFF00"/>
                </a:solidFill>
              </a:rPr>
            </a:br>
            <a:r>
              <a:rPr lang="en-CA" sz="2800" i="1" dirty="0" smtClean="0">
                <a:solidFill>
                  <a:schemeClr val="bg1"/>
                </a:solidFill>
              </a:rPr>
              <a:t>Time Span </a:t>
            </a:r>
            <a:br>
              <a:rPr lang="en-CA" sz="2800" i="1" dirty="0" smtClean="0">
                <a:solidFill>
                  <a:schemeClr val="bg1"/>
                </a:solidFill>
              </a:rPr>
            </a:br>
            <a:r>
              <a:rPr lang="en-CA" sz="2800" i="1" dirty="0" smtClean="0">
                <a:solidFill>
                  <a:schemeClr val="bg1"/>
                </a:solidFill>
              </a:rPr>
              <a:t>Only </a:t>
            </a:r>
            <a:r>
              <a:rPr lang="en-CA" sz="2800" i="1" dirty="0" err="1" smtClean="0">
                <a:solidFill>
                  <a:schemeClr val="bg1"/>
                </a:solidFill>
              </a:rPr>
              <a:t>Thaiwanese</a:t>
            </a:r>
            <a:r>
              <a:rPr lang="en-CA" sz="2800" i="1" dirty="0" smtClean="0">
                <a:solidFill>
                  <a:schemeClr val="bg1"/>
                </a:solidFill>
              </a:rPr>
              <a:t> companies</a:t>
            </a:r>
            <a:endParaRPr lang="en-CA" sz="2800" i="1" dirty="0">
              <a:solidFill>
                <a:schemeClr val="bg1"/>
              </a:solidFill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subTitle" idx="4294967295"/>
          </p:nvPr>
        </p:nvSpPr>
        <p:spPr>
          <a:xfrm>
            <a:off x="9816275" y="1283381"/>
            <a:ext cx="8458200" cy="731202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3600" b="1" i="1" dirty="0" smtClean="0">
                <a:solidFill>
                  <a:srgbClr val="FFFF00"/>
                </a:solidFill>
              </a:rPr>
              <a:t>Why ?</a:t>
            </a:r>
            <a:endParaRPr lang="en-US" sz="3600" dirty="0" smtClean="0">
              <a:solidFill>
                <a:schemeClr val="bg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Learning </a:t>
            </a:r>
            <a:r>
              <a:rPr lang="en-US" dirty="0">
                <a:solidFill>
                  <a:schemeClr val="bg1"/>
                </a:solidFill>
              </a:rPr>
              <a:t>about the factors impact a bankruptcy, </a:t>
            </a:r>
            <a:endParaRPr lang="en-CA" dirty="0">
              <a:solidFill>
                <a:schemeClr val="bg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Business Owners- Mitigate actions in their own business</a:t>
            </a:r>
            <a:endParaRPr lang="en-CA" dirty="0">
              <a:solidFill>
                <a:schemeClr val="bg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Lenders- Accurate decision Making, Reduce </a:t>
            </a:r>
            <a:r>
              <a:rPr lang="en-US" dirty="0" smtClean="0">
                <a:solidFill>
                  <a:schemeClr val="bg1"/>
                </a:solidFill>
              </a:rPr>
              <a:t>Risk</a:t>
            </a:r>
            <a:endParaRPr lang="en-CA" dirty="0">
              <a:solidFill>
                <a:schemeClr val="bg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Employees- </a:t>
            </a:r>
            <a:r>
              <a:rPr lang="en-US" dirty="0">
                <a:solidFill>
                  <a:schemeClr val="bg1"/>
                </a:solidFill>
              </a:rPr>
              <a:t>Job Security</a:t>
            </a:r>
            <a:endParaRPr lang="en-CA" dirty="0">
              <a:solidFill>
                <a:schemeClr val="bg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Company Management- Mitigating Action Plan</a:t>
            </a:r>
            <a:endParaRPr lang="en-CA" dirty="0">
              <a:solidFill>
                <a:schemeClr val="bg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Policy Makers- Create safe guard Policies</a:t>
            </a:r>
            <a:endParaRPr lang="en-CA" dirty="0">
              <a:solidFill>
                <a:schemeClr val="bg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Academia &amp; Research Institutes- Deep observe</a:t>
            </a:r>
            <a:endParaRPr lang="en-CA" dirty="0">
              <a:solidFill>
                <a:schemeClr val="bg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Regulatory Authority- Legal actions</a:t>
            </a:r>
            <a:endParaRPr lang="en-CA" dirty="0">
              <a:solidFill>
                <a:schemeClr val="bg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472573"/>
            <a:ext cx="8153400" cy="578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039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11920" y="4735288"/>
            <a:ext cx="408212" cy="408212"/>
          </a:xfrm>
          <a:custGeom>
            <a:avLst/>
            <a:gdLst/>
            <a:ahLst/>
            <a:cxnLst/>
            <a:rect l="l" t="t" r="r" b="b"/>
            <a:pathLst>
              <a:path w="408212" h="408212">
                <a:moveTo>
                  <a:pt x="0" y="0"/>
                </a:moveTo>
                <a:lnTo>
                  <a:pt x="408211" y="0"/>
                </a:lnTo>
                <a:lnTo>
                  <a:pt x="408211" y="408212"/>
                </a:lnTo>
                <a:lnTo>
                  <a:pt x="0" y="40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38200" y="1716957"/>
            <a:ext cx="10367119" cy="2204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20"/>
              </a:lnSpc>
            </a:pPr>
            <a:r>
              <a:rPr lang="en-US" sz="11500" spc="-977" dirty="0" smtClean="0">
                <a:solidFill>
                  <a:srgbClr val="FDFDFD"/>
                </a:solidFill>
                <a:latin typeface="Baskerville Old Face" panose="02020602080505020303" pitchFamily="18" charset="0"/>
                <a:ea typeface="League Gothic"/>
                <a:cs typeface="League Gothic"/>
                <a:sym typeface="League Gothic"/>
              </a:rPr>
              <a:t>Learnings…</a:t>
            </a:r>
            <a:endParaRPr lang="en-US" sz="11500" spc="-977" dirty="0">
              <a:solidFill>
                <a:srgbClr val="FDFDFD"/>
              </a:solidFill>
              <a:latin typeface="Baskerville Old Face" panose="02020602080505020303" pitchFamily="18" charset="0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688576" y="0"/>
            <a:ext cx="7599424" cy="1165534"/>
          </a:xfrm>
          <a:custGeom>
            <a:avLst/>
            <a:gdLst/>
            <a:ahLst/>
            <a:cxnLst/>
            <a:rect l="l" t="t" r="r" b="b"/>
            <a:pathLst>
              <a:path w="7599424" h="1165534">
                <a:moveTo>
                  <a:pt x="0" y="0"/>
                </a:moveTo>
                <a:lnTo>
                  <a:pt x="7599424" y="0"/>
                </a:lnTo>
                <a:lnTo>
                  <a:pt x="7599424" y="1165534"/>
                </a:lnTo>
                <a:lnTo>
                  <a:pt x="0" y="1165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487" b="-2487"/>
            </a:stretch>
          </a:blipFill>
        </p:spPr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846903"/>
              </p:ext>
            </p:extLst>
          </p:nvPr>
        </p:nvGraphicFramePr>
        <p:xfrm>
          <a:off x="1520132" y="4845118"/>
          <a:ext cx="15091468" cy="5022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5734"/>
                <a:gridCol w="7545734"/>
              </a:tblGrid>
              <a:tr h="837130"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Model</a:t>
                      </a:r>
                      <a:endParaRPr lang="en-CA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Outcome</a:t>
                      </a:r>
                      <a:endParaRPr lang="en-CA" sz="4000" dirty="0"/>
                    </a:p>
                  </a:txBody>
                  <a:tcPr/>
                </a:tc>
              </a:tr>
              <a:tr h="837130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Principle component Analysis</a:t>
                      </a:r>
                      <a:endParaRPr lang="en-CA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3200" dirty="0"/>
                    </a:p>
                  </a:txBody>
                  <a:tcPr/>
                </a:tc>
              </a:tr>
              <a:tr h="837130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Logistic Regression</a:t>
                      </a:r>
                      <a:endParaRPr lang="en-CA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3200" dirty="0"/>
                    </a:p>
                  </a:txBody>
                  <a:tcPr/>
                </a:tc>
              </a:tr>
              <a:tr h="837130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SVM</a:t>
                      </a:r>
                      <a:endParaRPr lang="en-CA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Accuracy is low</a:t>
                      </a:r>
                      <a:endParaRPr lang="en-CA" sz="3200" dirty="0"/>
                    </a:p>
                  </a:txBody>
                  <a:tcPr/>
                </a:tc>
              </a:tr>
              <a:tr h="837130">
                <a:tc>
                  <a:txBody>
                    <a:bodyPr/>
                    <a:lstStyle/>
                    <a:p>
                      <a:r>
                        <a:rPr lang="en-US" sz="3200" dirty="0" err="1" smtClean="0"/>
                        <a:t>Nural</a:t>
                      </a:r>
                      <a:r>
                        <a:rPr lang="en-US" sz="3200" dirty="0" smtClean="0"/>
                        <a:t> Network</a:t>
                      </a:r>
                      <a:endParaRPr lang="en-CA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3200" dirty="0"/>
                    </a:p>
                  </a:txBody>
                  <a:tcPr/>
                </a:tc>
              </a:tr>
              <a:tr h="837130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Random Forest Classification</a:t>
                      </a:r>
                      <a:endParaRPr lang="en-CA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It worked</a:t>
                      </a:r>
                      <a:endParaRPr lang="en-CA" sz="3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5-Point Star 5"/>
          <p:cNvSpPr/>
          <p:nvPr/>
        </p:nvSpPr>
        <p:spPr>
          <a:xfrm>
            <a:off x="11238656" y="9105900"/>
            <a:ext cx="685800" cy="533400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5-Point Star 9"/>
          <p:cNvSpPr/>
          <p:nvPr/>
        </p:nvSpPr>
        <p:spPr>
          <a:xfrm>
            <a:off x="12294568" y="9105900"/>
            <a:ext cx="685800" cy="533400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3211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11920" y="4735288"/>
            <a:ext cx="408212" cy="408212"/>
          </a:xfrm>
          <a:custGeom>
            <a:avLst/>
            <a:gdLst/>
            <a:ahLst/>
            <a:cxnLst/>
            <a:rect l="l" t="t" r="r" b="b"/>
            <a:pathLst>
              <a:path w="408212" h="408212">
                <a:moveTo>
                  <a:pt x="0" y="0"/>
                </a:moveTo>
                <a:lnTo>
                  <a:pt x="408211" y="0"/>
                </a:lnTo>
                <a:lnTo>
                  <a:pt x="408211" y="408212"/>
                </a:lnTo>
                <a:lnTo>
                  <a:pt x="0" y="40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38200" y="1716957"/>
            <a:ext cx="12039600" cy="2295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920"/>
              </a:lnSpc>
            </a:pPr>
            <a:r>
              <a:rPr lang="en-US" sz="11500" spc="-977" dirty="0" smtClean="0">
                <a:solidFill>
                  <a:srgbClr val="FDFDFD"/>
                </a:solidFill>
                <a:latin typeface="Baskerville Old Face" panose="02020602080505020303" pitchFamily="18" charset="0"/>
                <a:ea typeface="League Gothic"/>
                <a:cs typeface="League Gothic"/>
                <a:sym typeface="League Gothic"/>
              </a:rPr>
              <a:t>Model Development…</a:t>
            </a:r>
            <a:endParaRPr lang="en-US" sz="11500" spc="-977" dirty="0">
              <a:solidFill>
                <a:srgbClr val="FDFDFD"/>
              </a:solidFill>
              <a:latin typeface="Baskerville Old Face" panose="02020602080505020303" pitchFamily="18" charset="0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688576" y="0"/>
            <a:ext cx="7599424" cy="1165534"/>
          </a:xfrm>
          <a:custGeom>
            <a:avLst/>
            <a:gdLst/>
            <a:ahLst/>
            <a:cxnLst/>
            <a:rect l="l" t="t" r="r" b="b"/>
            <a:pathLst>
              <a:path w="7599424" h="1165534">
                <a:moveTo>
                  <a:pt x="0" y="0"/>
                </a:moveTo>
                <a:lnTo>
                  <a:pt x="7599424" y="0"/>
                </a:lnTo>
                <a:lnTo>
                  <a:pt x="7599424" y="1165534"/>
                </a:lnTo>
                <a:lnTo>
                  <a:pt x="0" y="1165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487" b="-2487"/>
            </a:stretch>
          </a:blipFill>
        </p:spPr>
      </p:sp>
    </p:spTree>
    <p:extLst>
      <p:ext uri="{BB962C8B-B14F-4D97-AF65-F5344CB8AC3E}">
        <p14:creationId xmlns:p14="http://schemas.microsoft.com/office/powerpoint/2010/main" val="2197295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11920" y="4735288"/>
            <a:ext cx="408212" cy="408212"/>
          </a:xfrm>
          <a:custGeom>
            <a:avLst/>
            <a:gdLst/>
            <a:ahLst/>
            <a:cxnLst/>
            <a:rect l="l" t="t" r="r" b="b"/>
            <a:pathLst>
              <a:path w="408212" h="408212">
                <a:moveTo>
                  <a:pt x="0" y="0"/>
                </a:moveTo>
                <a:lnTo>
                  <a:pt x="408211" y="0"/>
                </a:lnTo>
                <a:lnTo>
                  <a:pt x="408211" y="408212"/>
                </a:lnTo>
                <a:lnTo>
                  <a:pt x="0" y="40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38200" y="1716957"/>
            <a:ext cx="12039600" cy="2123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920"/>
              </a:lnSpc>
            </a:pPr>
            <a:r>
              <a:rPr lang="en-US" sz="11500" spc="-977" dirty="0" smtClean="0">
                <a:solidFill>
                  <a:srgbClr val="FDFDFD"/>
                </a:solidFill>
                <a:latin typeface="Baskerville Old Face" panose="02020602080505020303" pitchFamily="18" charset="0"/>
                <a:ea typeface="League Gothic"/>
                <a:cs typeface="League Gothic"/>
                <a:sym typeface="League Gothic"/>
              </a:rPr>
              <a:t>Results…</a:t>
            </a:r>
            <a:endParaRPr lang="en-US" sz="11500" spc="-977" dirty="0">
              <a:solidFill>
                <a:srgbClr val="FDFDFD"/>
              </a:solidFill>
              <a:latin typeface="Baskerville Old Face" panose="02020602080505020303" pitchFamily="18" charset="0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688576" y="0"/>
            <a:ext cx="7599424" cy="1165534"/>
          </a:xfrm>
          <a:custGeom>
            <a:avLst/>
            <a:gdLst/>
            <a:ahLst/>
            <a:cxnLst/>
            <a:rect l="l" t="t" r="r" b="b"/>
            <a:pathLst>
              <a:path w="7599424" h="1165534">
                <a:moveTo>
                  <a:pt x="0" y="0"/>
                </a:moveTo>
                <a:lnTo>
                  <a:pt x="7599424" y="0"/>
                </a:lnTo>
                <a:lnTo>
                  <a:pt x="7599424" y="1165534"/>
                </a:lnTo>
                <a:lnTo>
                  <a:pt x="0" y="1165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487" b="-2487"/>
            </a:stretch>
          </a:blipFill>
        </p:spPr>
      </p:sp>
    </p:spTree>
    <p:extLst>
      <p:ext uri="{BB962C8B-B14F-4D97-AF65-F5344CB8AC3E}">
        <p14:creationId xmlns:p14="http://schemas.microsoft.com/office/powerpoint/2010/main" val="2228415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11920" y="4735288"/>
            <a:ext cx="408212" cy="408212"/>
          </a:xfrm>
          <a:custGeom>
            <a:avLst/>
            <a:gdLst/>
            <a:ahLst/>
            <a:cxnLst/>
            <a:rect l="l" t="t" r="r" b="b"/>
            <a:pathLst>
              <a:path w="408212" h="408212">
                <a:moveTo>
                  <a:pt x="0" y="0"/>
                </a:moveTo>
                <a:lnTo>
                  <a:pt x="408211" y="0"/>
                </a:lnTo>
                <a:lnTo>
                  <a:pt x="408211" y="408212"/>
                </a:lnTo>
                <a:lnTo>
                  <a:pt x="0" y="40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38200" y="1716957"/>
            <a:ext cx="12039600" cy="2123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920"/>
              </a:lnSpc>
            </a:pPr>
            <a:r>
              <a:rPr lang="en-US" sz="11500" spc="-977" dirty="0" smtClean="0">
                <a:solidFill>
                  <a:srgbClr val="FDFDFD"/>
                </a:solidFill>
                <a:latin typeface="Baskerville Old Face" panose="02020602080505020303" pitchFamily="18" charset="0"/>
                <a:ea typeface="League Gothic"/>
                <a:cs typeface="League Gothic"/>
                <a:sym typeface="League Gothic"/>
              </a:rPr>
              <a:t>Summary…</a:t>
            </a:r>
            <a:endParaRPr lang="en-US" sz="11500" spc="-977" dirty="0">
              <a:solidFill>
                <a:srgbClr val="FDFDFD"/>
              </a:solidFill>
              <a:latin typeface="Baskerville Old Face" panose="02020602080505020303" pitchFamily="18" charset="0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688576" y="0"/>
            <a:ext cx="7599424" cy="1165534"/>
          </a:xfrm>
          <a:custGeom>
            <a:avLst/>
            <a:gdLst/>
            <a:ahLst/>
            <a:cxnLst/>
            <a:rect l="l" t="t" r="r" b="b"/>
            <a:pathLst>
              <a:path w="7599424" h="1165534">
                <a:moveTo>
                  <a:pt x="0" y="0"/>
                </a:moveTo>
                <a:lnTo>
                  <a:pt x="7599424" y="0"/>
                </a:lnTo>
                <a:lnTo>
                  <a:pt x="7599424" y="1165534"/>
                </a:lnTo>
                <a:lnTo>
                  <a:pt x="0" y="1165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487" b="-2487"/>
            </a:stretch>
          </a:blipFill>
        </p:spPr>
      </p:sp>
    </p:spTree>
    <p:extLst>
      <p:ext uri="{BB962C8B-B14F-4D97-AF65-F5344CB8AC3E}">
        <p14:creationId xmlns:p14="http://schemas.microsoft.com/office/powerpoint/2010/main" val="3183064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88576" y="17164"/>
            <a:ext cx="7599424" cy="1165534"/>
          </a:xfrm>
          <a:custGeom>
            <a:avLst/>
            <a:gdLst/>
            <a:ahLst/>
            <a:cxnLst/>
            <a:rect l="l" t="t" r="r" b="b"/>
            <a:pathLst>
              <a:path w="7599424" h="1165534">
                <a:moveTo>
                  <a:pt x="0" y="0"/>
                </a:moveTo>
                <a:lnTo>
                  <a:pt x="7599424" y="0"/>
                </a:lnTo>
                <a:lnTo>
                  <a:pt x="7599424" y="1165534"/>
                </a:lnTo>
                <a:lnTo>
                  <a:pt x="0" y="11655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87" b="-248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4291205"/>
            <a:ext cx="5995795" cy="5995795"/>
          </a:xfrm>
          <a:custGeom>
            <a:avLst/>
            <a:gdLst/>
            <a:ahLst/>
            <a:cxnLst/>
            <a:rect l="l" t="t" r="r" b="b"/>
            <a:pathLst>
              <a:path w="5995795" h="5995795">
                <a:moveTo>
                  <a:pt x="0" y="0"/>
                </a:moveTo>
                <a:lnTo>
                  <a:pt x="5995795" y="0"/>
                </a:lnTo>
                <a:lnTo>
                  <a:pt x="5995795" y="5995795"/>
                </a:lnTo>
                <a:lnTo>
                  <a:pt x="0" y="59957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390650"/>
            <a:ext cx="5706726" cy="1413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385"/>
              </a:lnSpc>
            </a:pPr>
            <a:r>
              <a:rPr lang="en-US" sz="11800" spc="-977" dirty="0" smtClean="0">
                <a:solidFill>
                  <a:srgbClr val="FDFDFD"/>
                </a:solidFill>
                <a:latin typeface="Baskerville Old Face" panose="02020602080505020303" pitchFamily="18" charset="0"/>
                <a:ea typeface="League Gothic"/>
                <a:cs typeface="League Gothic"/>
                <a:sym typeface="League Gothic"/>
              </a:rPr>
              <a:t>Future…</a:t>
            </a:r>
            <a:endParaRPr lang="en-US" sz="11800" spc="-977" dirty="0">
              <a:solidFill>
                <a:srgbClr val="FDFDFD"/>
              </a:solidFill>
              <a:latin typeface="Baskerville Old Face" panose="02020602080505020303" pitchFamily="18" charset="0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629400" y="3009900"/>
            <a:ext cx="10134600" cy="7162800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Temporal modeling for early </a:t>
            </a:r>
            <a:r>
              <a:rPr lang="en-US" sz="3600" dirty="0" smtClean="0">
                <a:solidFill>
                  <a:schemeClr val="bg1"/>
                </a:solidFill>
              </a:rPr>
              <a:t>warning</a:t>
            </a:r>
            <a:br>
              <a:rPr lang="en-US" sz="3600" dirty="0" smtClean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/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 smtClean="0">
                <a:solidFill>
                  <a:schemeClr val="bg1"/>
                </a:solidFill>
              </a:rPr>
              <a:t>Ensemble </a:t>
            </a:r>
            <a:r>
              <a:rPr lang="en-US" sz="3600" dirty="0">
                <a:solidFill>
                  <a:schemeClr val="bg1"/>
                </a:solidFill>
              </a:rPr>
              <a:t>models combining tree-based and neural </a:t>
            </a:r>
            <a:r>
              <a:rPr lang="en-US" sz="3600" dirty="0" smtClean="0">
                <a:solidFill>
                  <a:schemeClr val="bg1"/>
                </a:solidFill>
              </a:rPr>
              <a:t>nets</a:t>
            </a:r>
            <a:br>
              <a:rPr lang="en-US" sz="3600" dirty="0" smtClean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/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Zero-shot risk scoring using financial text </a:t>
            </a:r>
            <a:r>
              <a:rPr lang="en-US" sz="3600" dirty="0" err="1" smtClean="0">
                <a:solidFill>
                  <a:schemeClr val="bg1"/>
                </a:solidFill>
              </a:rPr>
              <a:t>embeddings</a:t>
            </a:r>
            <a:r>
              <a:rPr lang="en-US" sz="3600" dirty="0">
                <a:solidFill>
                  <a:schemeClr val="bg1"/>
                </a:solidFill>
              </a:rPr>
              <a:t/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 smtClean="0">
                <a:solidFill>
                  <a:schemeClr val="bg1"/>
                </a:solidFill>
              </a:rPr>
              <a:t/>
            </a:r>
            <a:br>
              <a:rPr lang="en-US" sz="3600" dirty="0" smtClean="0">
                <a:solidFill>
                  <a:schemeClr val="bg1"/>
                </a:solidFill>
              </a:rPr>
            </a:br>
            <a:r>
              <a:rPr lang="en-US" sz="3600" dirty="0" smtClean="0">
                <a:solidFill>
                  <a:schemeClr val="bg1"/>
                </a:solidFill>
              </a:rPr>
              <a:t>Expand </a:t>
            </a:r>
            <a:r>
              <a:rPr lang="en-US" sz="3600" dirty="0">
                <a:solidFill>
                  <a:schemeClr val="bg1"/>
                </a:solidFill>
              </a:rPr>
              <a:t>dataset to include other East Asian countries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88576" y="17164"/>
            <a:ext cx="7599424" cy="1165534"/>
          </a:xfrm>
          <a:custGeom>
            <a:avLst/>
            <a:gdLst/>
            <a:ahLst/>
            <a:cxnLst/>
            <a:rect l="l" t="t" r="r" b="b"/>
            <a:pathLst>
              <a:path w="7599424" h="1165534">
                <a:moveTo>
                  <a:pt x="0" y="0"/>
                </a:moveTo>
                <a:lnTo>
                  <a:pt x="7599424" y="0"/>
                </a:lnTo>
                <a:lnTo>
                  <a:pt x="7599424" y="1165534"/>
                </a:lnTo>
                <a:lnTo>
                  <a:pt x="0" y="11655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87" b="-248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17164"/>
            <a:ext cx="8090778" cy="10269836"/>
          </a:xfrm>
          <a:custGeom>
            <a:avLst/>
            <a:gdLst/>
            <a:ahLst/>
            <a:cxnLst/>
            <a:rect l="l" t="t" r="r" b="b"/>
            <a:pathLst>
              <a:path w="8090778" h="10269836">
                <a:moveTo>
                  <a:pt x="0" y="0"/>
                </a:moveTo>
                <a:lnTo>
                  <a:pt x="8090778" y="0"/>
                </a:lnTo>
                <a:lnTo>
                  <a:pt x="8090778" y="10269836"/>
                </a:lnTo>
                <a:lnTo>
                  <a:pt x="0" y="10269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1224" r="-4929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783839" y="4661382"/>
            <a:ext cx="11973772" cy="3016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90"/>
              </a:lnSpc>
            </a:pPr>
            <a:r>
              <a:rPr lang="en-US" sz="24761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212</Words>
  <Application>Microsoft Office PowerPoint</Application>
  <PresentationFormat>Custom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Garet</vt:lpstr>
      <vt:lpstr>Calibri</vt:lpstr>
      <vt:lpstr>Baskerville Old Face</vt:lpstr>
      <vt:lpstr>Above the Beyond Script</vt:lpstr>
      <vt:lpstr>Garet Bold</vt:lpstr>
      <vt:lpstr>Arial Narrow</vt:lpstr>
      <vt:lpstr>League Gothic</vt:lpstr>
      <vt:lpstr>Arial</vt:lpstr>
      <vt:lpstr>RoxboroughCF Bold</vt:lpstr>
      <vt:lpstr>Office Theme</vt:lpstr>
      <vt:lpstr>PowerPoint Presentation</vt:lpstr>
      <vt:lpstr>PowerPoint Presentation</vt:lpstr>
      <vt:lpstr>PowerPoint Presentation</vt:lpstr>
      <vt:lpstr>PowerPoint Presentation</vt:lpstr>
      <vt:lpstr>Limitations Time Span  Only Thaiwanese companies</vt:lpstr>
      <vt:lpstr>PowerPoint Presentation</vt:lpstr>
      <vt:lpstr>PowerPoint Presentation</vt:lpstr>
      <vt:lpstr>PowerPoint Presentation</vt:lpstr>
      <vt:lpstr>PowerPoint Presentation</vt:lpstr>
      <vt:lpstr>Temporal modeling for early warning  Ensemble models combining tree-based and neural nets  Zero-shot risk scoring using financial text embeddings  Expand dataset to include other East Asian countries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 by ML-02</dc:title>
  <dc:creator>Omega7</dc:creator>
  <cp:lastModifiedBy>Omega7</cp:lastModifiedBy>
  <cp:revision>15</cp:revision>
  <dcterms:created xsi:type="dcterms:W3CDTF">2006-08-16T00:00:00Z</dcterms:created>
  <dcterms:modified xsi:type="dcterms:W3CDTF">2025-11-14T02:44:09Z</dcterms:modified>
  <dc:identifier>DAG4iaCQ6Ss</dc:identifier>
</cp:coreProperties>
</file>